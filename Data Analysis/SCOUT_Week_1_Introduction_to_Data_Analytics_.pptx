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82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83" r:id="rId26"/>
    <p:sldId id="279" r:id="rId27"/>
    <p:sldId id="280" r:id="rId28"/>
    <p:sldId id="28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15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570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6583680" cy="150876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141414"/>
                </a:solidFill>
                <a:latin typeface="Aptos"/>
              </a:rPr>
              <a:t>INTRODUCTION TO
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155793"/>
            <a:ext cx="5029200" cy="40011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000" b="1" dirty="0">
                <a:solidFill>
                  <a:schemeClr val="accent6"/>
                </a:solidFill>
                <a:latin typeface="Aptos"/>
              </a:rPr>
              <a:t>From Data to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794760"/>
            <a:ext cx="123444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3803904"/>
            <a:ext cx="123444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  <a:latin typeface="Aptos"/>
              </a:rPr>
              <a:t>WEEK 01</a:t>
            </a:r>
          </a:p>
        </p:txBody>
      </p:sp>
      <p:sp>
        <p:nvSpPr>
          <p:cNvPr id="8" name="Oval 7"/>
          <p:cNvSpPr/>
          <p:nvPr/>
        </p:nvSpPr>
        <p:spPr>
          <a:xfrm>
            <a:off x="7543800" y="1828800"/>
            <a:ext cx="310896" cy="31089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7891272" y="1975104"/>
            <a:ext cx="411480" cy="256032"/>
          </a:xfrm>
          <a:prstGeom prst="rightArrow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75320" y="2423160"/>
            <a:ext cx="310896" cy="31089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8622792" y="2569464"/>
            <a:ext cx="411480" cy="256032"/>
          </a:xfrm>
          <a:prstGeom prst="rightArrow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006840" y="1828800"/>
            <a:ext cx="310896" cy="31089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9354312" y="1975104"/>
            <a:ext cx="411480" cy="256032"/>
          </a:xfrm>
          <a:prstGeom prst="rightArrow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738360" y="2423160"/>
            <a:ext cx="310896" cy="31089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10085832" y="2569464"/>
            <a:ext cx="411480" cy="256032"/>
          </a:xfrm>
          <a:prstGeom prst="rightArrow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469880" y="1828800"/>
            <a:ext cx="310896" cy="31089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98079" y="3886200"/>
            <a:ext cx="777240" cy="5029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503919" y="3886200"/>
            <a:ext cx="777240" cy="5029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509759" y="3886200"/>
            <a:ext cx="777240" cy="5029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43800" y="3933703"/>
            <a:ext cx="685800" cy="26161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chemeClr val="bg1"/>
                </a:solidFill>
                <a:latin typeface="Aptos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0647" y="3933703"/>
            <a:ext cx="841247" cy="26161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chemeClr val="bg1"/>
                </a:solidFill>
                <a:latin typeface="Aptos"/>
              </a:rPr>
              <a:t>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8701" y="3969971"/>
            <a:ext cx="909384" cy="26161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chemeClr val="bg1"/>
                </a:solidFill>
                <a:latin typeface="Aptos"/>
              </a:rPr>
              <a:t>decisi</a:t>
            </a:r>
            <a:r>
              <a:rPr lang="en-US" sz="1100" b="1" dirty="0">
                <a:solidFill>
                  <a:schemeClr val="bg1"/>
                </a:solidFill>
                <a:latin typeface="Aptos"/>
              </a:rPr>
              <a:t>on</a:t>
            </a:r>
            <a:endParaRPr sz="11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5C5C"/>
                </a:solidFill>
                <a:latin typeface="Aptos"/>
              </a:rPr>
              <a:t>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01168"/>
            <a:ext cx="914400" cy="411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DD9DFC-1C67-5532-DADC-130B1CE0D066}"/>
              </a:ext>
            </a:extLst>
          </p:cNvPr>
          <p:cNvSpPr txBox="1"/>
          <p:nvPr/>
        </p:nvSpPr>
        <p:spPr>
          <a:xfrm>
            <a:off x="594360" y="4226954"/>
            <a:ext cx="2743200" cy="41549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n-US" sz="1050" b="1" dirty="0">
                <a:solidFill>
                  <a:srgbClr val="5C5C5C"/>
                </a:solidFill>
                <a:latin typeface="Aptos"/>
              </a:rPr>
              <a:t>SCOUT </a:t>
            </a:r>
            <a:r>
              <a:rPr sz="1050" b="1" dirty="0">
                <a:solidFill>
                  <a:srgbClr val="5C5C5C"/>
                </a:solidFill>
                <a:latin typeface="Aptos"/>
              </a:rPr>
              <a:t>DATA </a:t>
            </a:r>
            <a:r>
              <a:rPr lang="en-US" sz="1050" b="1" dirty="0">
                <a:solidFill>
                  <a:srgbClr val="5C5C5C"/>
                </a:solidFill>
                <a:latin typeface="Aptos"/>
              </a:rPr>
              <a:t> ANALYTICS  &amp; VSUALIZATION</a:t>
            </a:r>
            <a:endParaRPr sz="1050" b="1" dirty="0">
              <a:solidFill>
                <a:srgbClr val="5C5C5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C5C5C"/>
                </a:solidFill>
                <a:latin typeface="Aptos"/>
              </a:rPr>
              <a:t>WEEK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858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3000" b="1" dirty="0">
                <a:solidFill>
                  <a:srgbClr val="141414"/>
                </a:solidFill>
                <a:latin typeface="Aptos"/>
              </a:rPr>
              <a:t>Meet your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914400" cy="5486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577840" cy="5029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1414"/>
                </a:solidFill>
                <a:latin typeface="Aptos"/>
              </a:rPr>
              <a:t>LORRETA ANYIKA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09331"/>
            <a:ext cx="5943600" cy="33855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chemeClr val="accent6"/>
                </a:solidFill>
                <a:latin typeface="Aptos"/>
              </a:rPr>
              <a:t>Data </a:t>
            </a:r>
            <a:r>
              <a:rPr lang="en-US" sz="1600" b="1" dirty="0">
                <a:solidFill>
                  <a:schemeClr val="accent6"/>
                </a:solidFill>
                <a:latin typeface="Aptos"/>
              </a:rPr>
              <a:t>Professional: Analytics</a:t>
            </a:r>
            <a:r>
              <a:rPr sz="1600" b="1" dirty="0">
                <a:solidFill>
                  <a:schemeClr val="accent6"/>
                </a:solidFill>
                <a:latin typeface="Aptos"/>
              </a:rPr>
              <a:t>  |  Educator  |  Researcher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26080"/>
            <a:ext cx="5852160" cy="291361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0EAE6"/>
                </a:solidFill>
                <a:latin typeface="Aptos"/>
              </a:defRPr>
            </a:pPr>
            <a:r>
              <a:rPr lang="en-US" dirty="0">
                <a:solidFill/>
              </a:rPr>
              <a:t>• Data Professional working across Data Analytics and Data Engineering</a:t>
            </a:r>
          </a:p>
          <a:p>
            <a:pPr>
              <a:spcAft>
                <a:spcPts val="700"/>
              </a:spcAft>
              <a:defRPr sz="1600">
                <a:solidFill>
                  <a:srgbClr val="F0EAE6"/>
                </a:solidFill>
                <a:latin typeface="Aptos"/>
              </a:defRPr>
            </a:pPr>
            <a:r>
              <a:rPr lang="en-US" dirty="0">
                <a:solidFill/>
              </a:rPr>
              <a:t>• RF Engineer contributing to telecommunications projects serving one of Africa’s leading mobile network operators</a:t>
            </a:r>
          </a:p>
          <a:p>
            <a:pPr>
              <a:spcAft>
                <a:spcPts val="700"/>
              </a:spcAft>
              <a:defRPr sz="1600">
                <a:solidFill>
                  <a:srgbClr val="F0EAE6"/>
                </a:solidFill>
                <a:latin typeface="Aptos"/>
              </a:defRPr>
            </a:pPr>
            <a:r>
              <a:rPr lang="en-US" dirty="0">
                <a:solidFill/>
              </a:rPr>
              <a:t>• Passionate about SDG 4: Quality Education and SDG 8: Decent Work and Economic Growth</a:t>
            </a:r>
          </a:p>
          <a:p>
            <a:pPr>
              <a:spcAft>
                <a:spcPts val="700"/>
              </a:spcAft>
              <a:defRPr sz="1600">
                <a:solidFill>
                  <a:srgbClr val="F0EAE6"/>
                </a:solidFill>
                <a:latin typeface="Aptos"/>
              </a:defRPr>
            </a:pPr>
            <a:r>
              <a:rPr lang="en-US" dirty="0">
                <a:solidFill/>
              </a:rPr>
              <a:t>• Technology Educator who enjoys teaching and helping others build practical, industry-relevant skills</a:t>
            </a:r>
          </a:p>
          <a:p>
            <a:pPr>
              <a:spcAft>
                <a:spcPts val="700"/>
              </a:spcAft>
              <a:defRPr sz="1600">
                <a:solidFill>
                  <a:srgbClr val="F0EAE6"/>
                </a:solidFill>
                <a:latin typeface="Aptos"/>
              </a:defRPr>
            </a:pPr>
            <a:r>
              <a:rPr lang="en-US" dirty="0">
                <a:solidFill/>
              </a:rPr>
              <a:t>• Has supported and facilitated learning across several technology bootcamps</a:t>
            </a:r>
            <a:endParaRPr dirty="0">
              <a:solidFill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90575" y="4948305"/>
            <a:ext cx="3931920" cy="5029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900" b="1" dirty="0">
                <a:solidFill>
                  <a:srgbClr val="141414"/>
                </a:solidFill>
                <a:latin typeface="Aptos"/>
              </a:rPr>
              <a:t>Let's learn how analysts think.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5C5C"/>
                </a:solidFill>
                <a:latin typeface="Aptos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01168"/>
            <a:ext cx="914400" cy="411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ea09abb9-e674-44ae-a0a3-83099ed100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914400"/>
            <a:ext cx="868680" cy="8686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93AB7F2-236A-2FE5-EF23-1CE6FE6C3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291" y="424532"/>
            <a:ext cx="2084489" cy="45146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C5C5C"/>
                </a:solidFill>
                <a:latin typeface="Aptos"/>
              </a:rPr>
              <a:t>THE DATA WORLD IN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858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ptos"/>
              </a:rPr>
              <a:t>The world of data has 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763" y="548639"/>
            <a:ext cx="7132320" cy="4114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100" b="1" dirty="0">
                <a:solidFill>
                  <a:srgbClr val="141414"/>
                </a:solidFill>
                <a:latin typeface="Aptos"/>
              </a:rPr>
              <a:t>More data. More platforms. More tools.</a:t>
            </a:r>
          </a:p>
        </p:txBody>
      </p:sp>
      <p:sp>
        <p:nvSpPr>
          <p:cNvPr id="6" name="Oval 5"/>
          <p:cNvSpPr/>
          <p:nvPr/>
        </p:nvSpPr>
        <p:spPr>
          <a:xfrm>
            <a:off x="5577840" y="3154679"/>
            <a:ext cx="1188720" cy="11887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0" y="3703320"/>
            <a:ext cx="100584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41414"/>
                </a:solidFill>
                <a:latin typeface="Aptos"/>
              </a:rPr>
              <a:t>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331720"/>
            <a:ext cx="1234440" cy="5029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368296"/>
            <a:ext cx="1234440" cy="38404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Excel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600200"/>
            <a:ext cx="1234440" cy="5029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0" y="1636776"/>
            <a:ext cx="1234440" cy="38404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417320"/>
            <a:ext cx="1234440" cy="5029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1453896"/>
            <a:ext cx="1234440" cy="38404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Python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508760"/>
            <a:ext cx="1234440" cy="5029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0" y="1545336"/>
            <a:ext cx="1234440" cy="38404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Power BI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5480" y="2331720"/>
            <a:ext cx="1234440" cy="5029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55480" y="2368296"/>
            <a:ext cx="1234440" cy="38404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Tableau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60" y="3977639"/>
            <a:ext cx="1234440" cy="5029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38360" y="4014215"/>
            <a:ext cx="1234440" cy="38404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SPSS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983480"/>
            <a:ext cx="1234440" cy="5029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0" y="5020056"/>
            <a:ext cx="1234440" cy="38404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APIs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49240" y="5303520"/>
            <a:ext cx="1234440" cy="5029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49240" y="5340096"/>
            <a:ext cx="1234440" cy="38404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Cloud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26080" y="4846320"/>
            <a:ext cx="1234440" cy="5029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26080" y="4882896"/>
            <a:ext cx="1234440" cy="38404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Databases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25880" y="3886200"/>
            <a:ext cx="1234440" cy="5029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325880" y="3922776"/>
            <a:ext cx="1234440" cy="38404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5C5C"/>
                </a:solidFill>
                <a:latin typeface="Aptos"/>
              </a:rPr>
              <a:t>03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201168"/>
            <a:ext cx="914400" cy="411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1792" y="1076337"/>
            <a:ext cx="8869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 dirty="0">
                <a:solidFill>
                  <a:srgbClr val="5C5C5C"/>
                </a:solidFill>
                <a:latin typeface="Aptos"/>
              </a:rPr>
              <a:t>In 2026, there is a tool for almost every part of the data journey.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1920240"/>
            <a:ext cx="2560320" cy="91440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2648" y="2029968"/>
            <a:ext cx="234086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C5C5C"/>
                </a:solidFill>
                <a:latin typeface="Aptos"/>
              </a:rPr>
              <a:t>SPREADSHEETS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" y="2350008"/>
            <a:ext cx="234086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  <a:latin typeface="Aptos"/>
              </a:rPr>
              <a:t>Excel  •  Google Sheets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83280" y="1920240"/>
            <a:ext cx="2560320" cy="91440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93008" y="2029968"/>
            <a:ext cx="234086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C5C5C"/>
                </a:solidFill>
                <a:latin typeface="Aptos"/>
              </a:rPr>
              <a:t>QUERYING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93008" y="2350008"/>
            <a:ext cx="234086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  <a:latin typeface="Aptos"/>
              </a:rPr>
              <a:t>SQL  •  BigQuery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1920240"/>
            <a:ext cx="2560320" cy="91440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73368" y="2029968"/>
            <a:ext cx="234086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C5C5C"/>
                </a:solidFill>
                <a:latin typeface="Aptos"/>
              </a:rPr>
              <a:t>PROGRAMMING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3368" y="2350008"/>
            <a:ext cx="234086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  <a:latin typeface="Aptos"/>
              </a:rPr>
              <a:t>Python  •  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1920240"/>
            <a:ext cx="2560320" cy="91440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253728" y="2029968"/>
            <a:ext cx="234086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C5C5C"/>
                </a:solidFill>
                <a:latin typeface="Aptos"/>
              </a:rPr>
              <a:t>VISUALISATION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53728" y="2350008"/>
            <a:ext cx="234086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  <a:latin typeface="Aptos"/>
              </a:rPr>
              <a:t>Power BI  •  Tableau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3063240"/>
            <a:ext cx="2560320" cy="91440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2648" y="3172968"/>
            <a:ext cx="234086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C5C5C"/>
                </a:solidFill>
                <a:latin typeface="Aptos"/>
              </a:rPr>
              <a:t>PYTHON ECOSYSTEM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" y="3493008"/>
            <a:ext cx="234086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  <a:latin typeface="Aptos"/>
              </a:rPr>
              <a:t>Pandas  •  Matplotlib  •  Seaborn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383280" y="3063240"/>
            <a:ext cx="2560320" cy="91440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493008" y="3172968"/>
            <a:ext cx="234086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C5C5C"/>
                </a:solidFill>
                <a:latin typeface="Aptos"/>
              </a:rPr>
              <a:t>STATISTICS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93008" y="3493008"/>
            <a:ext cx="234086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  <a:latin typeface="Aptos"/>
              </a:rPr>
              <a:t>SPSS  •  SAS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63640" y="3063240"/>
            <a:ext cx="2560320" cy="91440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73368" y="3172968"/>
            <a:ext cx="234086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C5C5C"/>
                </a:solidFill>
                <a:latin typeface="Aptos"/>
              </a:rPr>
              <a:t>DATABASES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73368" y="3493008"/>
            <a:ext cx="234086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  <a:latin typeface="Aptos"/>
              </a:rPr>
              <a:t>PostgreSQL  •  MySQL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44000" y="3063240"/>
            <a:ext cx="2560320" cy="91440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253728" y="3172968"/>
            <a:ext cx="234086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C5C5C"/>
                </a:solidFill>
                <a:latin typeface="Aptos"/>
              </a:rPr>
              <a:t>CLOUD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53728" y="3493008"/>
            <a:ext cx="234086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  <a:latin typeface="Aptos"/>
              </a:rPr>
              <a:t>AWS  •  Azure  •  GCP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02920" y="4206240"/>
            <a:ext cx="2560320" cy="91440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12648" y="4315968"/>
            <a:ext cx="234086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C5C5C"/>
                </a:solidFill>
                <a:latin typeface="Aptos"/>
              </a:rPr>
              <a:t>NOTEBOOKS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2648" y="4636007"/>
            <a:ext cx="234086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  <a:latin typeface="Aptos"/>
              </a:rPr>
              <a:t>Jupyter  •  Colab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383280" y="4206240"/>
            <a:ext cx="2560320" cy="91440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493008" y="4315968"/>
            <a:ext cx="234086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C5C5C"/>
                </a:solidFill>
                <a:latin typeface="Aptos"/>
              </a:rPr>
              <a:t>AI / ML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93008" y="4636007"/>
            <a:ext cx="234086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  <a:latin typeface="Aptos"/>
              </a:rPr>
              <a:t>scikit-learn  •  PyTorch  •  TensorFlow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63640" y="4206240"/>
            <a:ext cx="2560320" cy="91440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373368" y="4315968"/>
            <a:ext cx="234086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C5C5C"/>
                </a:solidFill>
                <a:latin typeface="Aptos"/>
              </a:rPr>
              <a:t>DATA PLATFORMS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73368" y="4636007"/>
            <a:ext cx="234086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  <a:latin typeface="Aptos"/>
              </a:rPr>
              <a:t>Databricks  •  Snowflake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144000" y="4206240"/>
            <a:ext cx="2560320" cy="91440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253728" y="4315968"/>
            <a:ext cx="234086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C5C5C"/>
                </a:solidFill>
                <a:latin typeface="Aptos"/>
              </a:rPr>
              <a:t>TRANSFORMATION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53728" y="4636007"/>
            <a:ext cx="234086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  <a:latin typeface="Aptos"/>
              </a:rPr>
              <a:t>dbt  •  Airflow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1792" y="5715000"/>
            <a:ext cx="7132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dirty="0">
                <a:solidFill>
                  <a:schemeClr val="accent6"/>
                </a:solidFill>
                <a:latin typeface="Aptos"/>
              </a:rPr>
              <a:t>The tools change. The fundamentals do not.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AD8EBD7-E03A-EAB0-E5E1-BA506B5EE369}"/>
              </a:ext>
            </a:extLst>
          </p:cNvPr>
          <p:cNvSpPr txBox="1"/>
          <p:nvPr/>
        </p:nvSpPr>
        <p:spPr>
          <a:xfrm>
            <a:off x="182880" y="6247686"/>
            <a:ext cx="2743200" cy="41549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n-US" sz="1050" b="1" dirty="0">
                <a:solidFill>
                  <a:srgbClr val="5C5C5C"/>
                </a:solidFill>
                <a:latin typeface="Aptos"/>
              </a:rPr>
              <a:t>SCOUT </a:t>
            </a:r>
            <a:r>
              <a:rPr sz="1050" b="1" dirty="0">
                <a:solidFill>
                  <a:srgbClr val="5C5C5C"/>
                </a:solidFill>
                <a:latin typeface="Aptos"/>
              </a:rPr>
              <a:t>DATA </a:t>
            </a:r>
            <a:r>
              <a:rPr lang="en-US" sz="1050" b="1" dirty="0">
                <a:solidFill>
                  <a:srgbClr val="5C5C5C"/>
                </a:solidFill>
                <a:latin typeface="Aptos"/>
              </a:rPr>
              <a:t> ANALYTICS  &amp; VSUALIZATION</a:t>
            </a:r>
            <a:endParaRPr sz="1050" b="1" dirty="0">
              <a:solidFill>
                <a:srgbClr val="5C5C5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92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C5C5C"/>
                </a:solidFill>
                <a:latin typeface="Aptos"/>
              </a:rPr>
              <a:t>THE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858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ptos"/>
              </a:rPr>
              <a:t>What does not change?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914400" cy="5486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5486400" cy="12344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3400" b="1" dirty="0">
                <a:solidFill>
                  <a:srgbClr val="141414"/>
                </a:solidFill>
                <a:latin typeface="Aptos"/>
              </a:rPr>
              <a:t>The fundamentals of
data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17320"/>
            <a:ext cx="118872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426464"/>
            <a:ext cx="118872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444752"/>
            <a:ext cx="420624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Aptos"/>
              </a:rPr>
              <a:t>the right question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1188720" cy="384048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340863"/>
            <a:ext cx="1188720" cy="347472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UNDERSTAND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359151"/>
            <a:ext cx="420624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Aptos"/>
              </a:rPr>
              <a:t>the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3246120"/>
            <a:ext cx="118872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3255263"/>
            <a:ext cx="118872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273551"/>
            <a:ext cx="420624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Aptos"/>
              </a:rPr>
              <a:t>the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4160520"/>
            <a:ext cx="118872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4169663"/>
            <a:ext cx="118872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INTERPRET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187952"/>
            <a:ext cx="420624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Aptos"/>
              </a:rPr>
              <a:t>what it means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5074920"/>
            <a:ext cx="118872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5084064"/>
            <a:ext cx="118872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DECIDE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5102352"/>
            <a:ext cx="420624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Aptos"/>
              </a:rPr>
              <a:t>what to 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5C5C"/>
                </a:solidFill>
                <a:latin typeface="Aptos"/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3280" y="201168"/>
            <a:ext cx="914400" cy="411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A21FF4-B0C9-9F66-7B00-367C8626FDB5}"/>
              </a:ext>
            </a:extLst>
          </p:cNvPr>
          <p:cNvSpPr txBox="1"/>
          <p:nvPr/>
        </p:nvSpPr>
        <p:spPr>
          <a:xfrm>
            <a:off x="594360" y="4226954"/>
            <a:ext cx="2743200" cy="41549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n-US" sz="1050" b="1" dirty="0">
                <a:solidFill>
                  <a:srgbClr val="5C5C5C"/>
                </a:solidFill>
                <a:latin typeface="Aptos"/>
              </a:rPr>
              <a:t>SCOUT </a:t>
            </a:r>
            <a:r>
              <a:rPr sz="1050" b="1" dirty="0">
                <a:solidFill>
                  <a:srgbClr val="5C5C5C"/>
                </a:solidFill>
                <a:latin typeface="Aptos"/>
              </a:rPr>
              <a:t>DATA </a:t>
            </a:r>
            <a:r>
              <a:rPr lang="en-US" sz="1050" b="1" dirty="0">
                <a:solidFill>
                  <a:srgbClr val="5C5C5C"/>
                </a:solidFill>
                <a:latin typeface="Aptos"/>
              </a:rPr>
              <a:t> ANALYTICS  &amp; VSUALIZATION</a:t>
            </a:r>
            <a:endParaRPr sz="1050" b="1" dirty="0">
              <a:solidFill>
                <a:srgbClr val="5C5C5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1414"/>
                </a:solidFill>
                <a:latin typeface="Aptos"/>
              </a:rPr>
              <a:t>Data is a team 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5C5C5C"/>
                </a:solidFill>
                <a:latin typeface="Aptos"/>
              </a:rPr>
              <a:t>Different professionals build, move, prepare and use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3474720" cy="146304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67512" y="2130552"/>
            <a:ext cx="3145536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2148840"/>
            <a:ext cx="3145536" cy="310896"/>
          </a:xfrm>
          <a:prstGeom prst="rect">
            <a:avLst/>
          </a:prstGeom>
          <a:solidFill>
            <a:schemeClr val="accent6"/>
          </a:solidFill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BUSINESS /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79191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Defines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90088"/>
            <a:ext cx="30175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C5C5C"/>
                </a:solidFill>
                <a:latin typeface="Aptos"/>
              </a:rPr>
              <a:t>What should we solve?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65960"/>
            <a:ext cx="3474720" cy="146304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53712" y="2130552"/>
            <a:ext cx="3145536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2148840"/>
            <a:ext cx="3145536" cy="310896"/>
          </a:xfrm>
          <a:prstGeom prst="rect">
            <a:avLst/>
          </a:prstGeom>
          <a:solidFill>
            <a:schemeClr val="accent6"/>
          </a:solidFill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SOFTWARE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79191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Builds applications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990088"/>
            <a:ext cx="30175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C5C5C"/>
                </a:solidFill>
                <a:latin typeface="Aptos"/>
              </a:rPr>
              <a:t>Where events are created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965960"/>
            <a:ext cx="3474720" cy="146304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439912" y="2130552"/>
            <a:ext cx="3145536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9912" y="2148840"/>
            <a:ext cx="3145536" cy="310896"/>
          </a:xfrm>
          <a:prstGeom prst="rect">
            <a:avLst/>
          </a:prstGeom>
          <a:solidFill>
            <a:schemeClr val="accent6"/>
          </a:solidFill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DATA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679191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Builds data pipelines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990088"/>
            <a:ext cx="30175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C5C5C"/>
                </a:solidFill>
                <a:latin typeface="Aptos"/>
              </a:rPr>
              <a:t>How data gets to analysis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840479"/>
            <a:ext cx="3474720" cy="146304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67512" y="4005071"/>
            <a:ext cx="3145536" cy="384048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" y="4023359"/>
            <a:ext cx="31455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ANALYTICS ENGINEER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53712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Models trusted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64607"/>
            <a:ext cx="30175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C5C5C"/>
                </a:solidFill>
                <a:latin typeface="Aptos"/>
              </a:rPr>
              <a:t>How raw data becomes usable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840479"/>
            <a:ext cx="3474720" cy="146304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553712" y="4005071"/>
            <a:ext cx="3145536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53712" y="4023359"/>
            <a:ext cx="3145536" cy="310896"/>
          </a:xfrm>
          <a:prstGeom prst="rect">
            <a:avLst/>
          </a:prstGeom>
          <a:solidFill>
            <a:schemeClr val="accent6"/>
          </a:solidFill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DATA ANALYST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553712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Answers business questions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864607"/>
            <a:ext cx="30175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C5C5C"/>
                </a:solidFill>
                <a:latin typeface="Aptos"/>
              </a:rPr>
              <a:t>What does the data tell us?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3840479"/>
            <a:ext cx="3474720" cy="146304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439912" y="4005071"/>
            <a:ext cx="3145536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39912" y="4023359"/>
            <a:ext cx="3145536" cy="310896"/>
          </a:xfrm>
          <a:prstGeom prst="rect">
            <a:avLst/>
          </a:prstGeom>
          <a:solidFill>
            <a:schemeClr val="accent6"/>
          </a:solidFill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DATA SCIENTIST / 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553712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Builds predictive models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864607"/>
            <a:ext cx="30175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C5C5C"/>
                </a:solidFill>
                <a:latin typeface="Aptos"/>
              </a:rPr>
              <a:t>What could happen next?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715000"/>
            <a:ext cx="9144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dirty="0">
                <a:latin typeface="Aptos"/>
              </a:rPr>
              <a:t>You may enter through one role and collaborate with all of them.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26EA48-E57A-A8F2-18BA-75187355848E}"/>
              </a:ext>
            </a:extLst>
          </p:cNvPr>
          <p:cNvSpPr txBox="1"/>
          <p:nvPr/>
        </p:nvSpPr>
        <p:spPr>
          <a:xfrm>
            <a:off x="594360" y="6412506"/>
            <a:ext cx="2743200" cy="41549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n-US" sz="1050" b="1" dirty="0">
                <a:solidFill>
                  <a:srgbClr val="5C5C5C"/>
                </a:solidFill>
                <a:latin typeface="Aptos"/>
              </a:rPr>
              <a:t>SCOUT </a:t>
            </a:r>
            <a:r>
              <a:rPr sz="1050" b="1" dirty="0">
                <a:solidFill>
                  <a:srgbClr val="5C5C5C"/>
                </a:solidFill>
                <a:latin typeface="Aptos"/>
              </a:rPr>
              <a:t>DATA </a:t>
            </a:r>
            <a:r>
              <a:rPr lang="en-US" sz="1050" b="1" dirty="0">
                <a:solidFill>
                  <a:srgbClr val="5C5C5C"/>
                </a:solidFill>
                <a:latin typeface="Aptos"/>
              </a:rPr>
              <a:t> ANALYTICS  &amp; VSUALIZATION</a:t>
            </a:r>
            <a:endParaRPr sz="1050" b="1" dirty="0">
              <a:solidFill>
                <a:srgbClr val="5C5C5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7498079" cy="150876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3500" b="1">
                <a:solidFill>
                  <a:srgbClr val="141414"/>
                </a:solidFill>
                <a:latin typeface="Aptos"/>
              </a:rPr>
              <a:t>WHAT DO YOU THINK
DATA ANALYTICS 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349377"/>
            <a:ext cx="5943600" cy="707886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000" b="0" dirty="0">
                <a:solidFill>
                  <a:srgbClr val="5C5C5C"/>
                </a:solidFill>
                <a:latin typeface="Aptos"/>
              </a:rPr>
              <a:t>Take 60 seconds.
</a:t>
            </a:r>
            <a:r>
              <a:rPr lang="en-US" sz="2000" dirty="0">
                <a:solidFill>
                  <a:srgbClr val="5C5C5C"/>
                </a:solidFill>
                <a:latin typeface="Aptos"/>
              </a:rPr>
              <a:t>Discuss </a:t>
            </a:r>
            <a:r>
              <a:rPr sz="2000" b="0" dirty="0">
                <a:solidFill>
                  <a:srgbClr val="5C5C5C"/>
                </a:solidFill>
                <a:latin typeface="Aptos"/>
              </a:rPr>
              <a:t>with someone beside you.</a:t>
            </a:r>
          </a:p>
        </p:txBody>
      </p:sp>
      <p:sp>
        <p:nvSpPr>
          <p:cNvPr id="5" name="Oval 4"/>
          <p:cNvSpPr/>
          <p:nvPr/>
        </p:nvSpPr>
        <p:spPr>
          <a:xfrm>
            <a:off x="8595360" y="1508760"/>
            <a:ext cx="1051560" cy="105156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0" y="1636776"/>
            <a:ext cx="1051560" cy="6858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141414"/>
                </a:solidFill>
                <a:latin typeface="Aptos"/>
              </a:rPr>
              <a:t>?</a:t>
            </a:r>
          </a:p>
        </p:txBody>
      </p:sp>
      <p:sp>
        <p:nvSpPr>
          <p:cNvPr id="7" name="Oval 6"/>
          <p:cNvSpPr/>
          <p:nvPr/>
        </p:nvSpPr>
        <p:spPr>
          <a:xfrm>
            <a:off x="9829800" y="3246120"/>
            <a:ext cx="685800" cy="685800"/>
          </a:xfrm>
          <a:prstGeom prst="ellipse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29800" y="3301651"/>
            <a:ext cx="685800" cy="49244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92D050"/>
                </a:solidFill>
                <a:latin typeface="Aptos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5C5C"/>
                </a:solidFill>
                <a:latin typeface="Aptos"/>
              </a:rPr>
              <a:t>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01168"/>
            <a:ext cx="914400" cy="411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39C1BC-D1DA-DE08-EED5-6DB8C10EA322}"/>
              </a:ext>
            </a:extLst>
          </p:cNvPr>
          <p:cNvSpPr txBox="1"/>
          <p:nvPr/>
        </p:nvSpPr>
        <p:spPr>
          <a:xfrm>
            <a:off x="594360" y="4226954"/>
            <a:ext cx="2743200" cy="41549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n-US" sz="1050" b="1" dirty="0">
                <a:solidFill>
                  <a:srgbClr val="5C5C5C"/>
                </a:solidFill>
                <a:latin typeface="Aptos"/>
              </a:rPr>
              <a:t>SCOUT </a:t>
            </a:r>
            <a:r>
              <a:rPr sz="1050" b="1" dirty="0">
                <a:solidFill>
                  <a:srgbClr val="5C5C5C"/>
                </a:solidFill>
                <a:latin typeface="Aptos"/>
              </a:rPr>
              <a:t>DATA </a:t>
            </a:r>
            <a:r>
              <a:rPr lang="en-US" sz="1050" b="1" dirty="0">
                <a:solidFill>
                  <a:srgbClr val="5C5C5C"/>
                </a:solidFill>
                <a:latin typeface="Aptos"/>
              </a:rPr>
              <a:t> ANALYTICS  &amp; VSUALIZATION</a:t>
            </a:r>
            <a:endParaRPr sz="1050" b="1" dirty="0">
              <a:solidFill>
                <a:srgbClr val="5C5C5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endParaRPr sz="1000" b="1">
              <a:solidFill>
                <a:schemeClr val="bg1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C5C5C"/>
                </a:solidFill>
                <a:latin typeface="Aptos"/>
              </a:rPr>
              <a:t>OUR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858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ptos"/>
              </a:rPr>
              <a:t>Meet SCOUT Mart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8869680" cy="4572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41414"/>
                </a:solidFill>
                <a:latin typeface="Aptos"/>
              </a:rPr>
              <a:t>A modern shopping mall serving thousands of customers every month.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2331720" cy="6858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258568"/>
            <a:ext cx="2331720" cy="4114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1414"/>
                </a:solidFill>
                <a:latin typeface="Aptos"/>
              </a:rPr>
              <a:t>Supermarket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148840"/>
            <a:ext cx="2331720" cy="6858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29000" y="2258568"/>
            <a:ext cx="2331720" cy="4114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1414"/>
                </a:solidFill>
                <a:latin typeface="Aptos"/>
              </a:rPr>
              <a:t>Fashion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148840"/>
            <a:ext cx="2331720" cy="6858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72200" y="2258568"/>
            <a:ext cx="2331720" cy="4114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1414"/>
                </a:solidFill>
                <a:latin typeface="Aptos"/>
              </a:rPr>
              <a:t>Electronics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2148840"/>
            <a:ext cx="2331720" cy="6858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15400" y="2258568"/>
            <a:ext cx="2331720" cy="4114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1414"/>
                </a:solidFill>
                <a:latin typeface="Aptos"/>
              </a:rPr>
              <a:t>Pharmacy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08960"/>
            <a:ext cx="2331720" cy="6858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218688"/>
            <a:ext cx="2331720" cy="4114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1414"/>
                </a:solidFill>
                <a:latin typeface="Aptos"/>
              </a:rPr>
              <a:t>Restaurants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3108960"/>
            <a:ext cx="2331720" cy="6858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9000" y="3218688"/>
            <a:ext cx="2331720" cy="4114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1414"/>
                </a:solidFill>
                <a:latin typeface="Aptos"/>
              </a:rPr>
              <a:t>Beauty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08960"/>
            <a:ext cx="2331720" cy="6858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72200" y="3218688"/>
            <a:ext cx="2331720" cy="4114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1414"/>
                </a:solidFill>
                <a:latin typeface="Aptos"/>
              </a:rPr>
              <a:t>Books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3108960"/>
            <a:ext cx="2331720" cy="6858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15400" y="3218688"/>
            <a:ext cx="2331720" cy="4114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1414"/>
                </a:solidFill>
                <a:latin typeface="Aptos"/>
              </a:rPr>
              <a:t>Cinema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592851"/>
            <a:ext cx="7772400" cy="41549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100" b="1" dirty="0">
                <a:solidFill>
                  <a:schemeClr val="accent6"/>
                </a:solidFill>
                <a:latin typeface="Aptos"/>
              </a:rPr>
              <a:t>And everything that happens leaves a trail of data.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257800"/>
            <a:ext cx="1737360" cy="384048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5317569"/>
            <a:ext cx="1737360" cy="24622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chemeClr val="bg1"/>
                </a:solidFill>
                <a:latin typeface="Aptos"/>
              </a:rPr>
              <a:t>Customers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51760" y="5257800"/>
            <a:ext cx="1737360" cy="384048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651760" y="5317569"/>
            <a:ext cx="1737360" cy="24622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defRPr sz="1000" b="1">
                <a:solidFill>
                  <a:schemeClr val="bg1"/>
                </a:solidFill>
                <a:latin typeface="Aptos"/>
              </a:defRPr>
            </a:lvl1pPr>
          </a:lstStyle>
          <a:p>
            <a:r>
              <a:rPr dirty="0"/>
              <a:t>Products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17720" y="5257800"/>
            <a:ext cx="1737360" cy="384048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17720" y="5266944"/>
            <a:ext cx="1737360" cy="347472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defRPr sz="1000" b="1">
                <a:solidFill>
                  <a:schemeClr val="bg1"/>
                </a:solidFill>
                <a:latin typeface="Aptos"/>
              </a:defRPr>
            </a:lvl1pPr>
          </a:lstStyle>
          <a:p>
            <a:r>
              <a:rPr dirty="0"/>
              <a:t>Transactions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760720"/>
            <a:ext cx="1737360" cy="384048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5769864"/>
            <a:ext cx="1737360" cy="347472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defRPr sz="1000" b="1">
                <a:solidFill>
                  <a:schemeClr val="bg1"/>
                </a:solidFill>
                <a:latin typeface="Aptos"/>
              </a:defRPr>
            </a:lvl1pPr>
          </a:lstStyle>
          <a:p>
            <a:r>
              <a:rPr dirty="0"/>
              <a:t>Payments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51760" y="5760720"/>
            <a:ext cx="1737360" cy="384048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651760" y="5769864"/>
            <a:ext cx="1737360" cy="347472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defRPr sz="1000" b="1">
                <a:solidFill>
                  <a:schemeClr val="bg1"/>
                </a:solidFill>
                <a:latin typeface="Aptos"/>
              </a:defRPr>
            </a:lvl1pPr>
          </a:lstStyle>
          <a:p>
            <a:r>
              <a:t>Promotions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17720" y="5760720"/>
            <a:ext cx="1737360" cy="384048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17720" y="5769864"/>
            <a:ext cx="1737360" cy="347472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defRPr sz="1000" b="1">
                <a:solidFill>
                  <a:schemeClr val="bg1"/>
                </a:solidFill>
                <a:latin typeface="Aptos"/>
              </a:defRPr>
            </a:lvl1pPr>
          </a:lstStyle>
          <a:p>
            <a:r>
              <a:t>Feedback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5C5C"/>
                </a:solidFill>
                <a:latin typeface="Aptos"/>
              </a:rPr>
              <a:t>06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201168"/>
            <a:ext cx="914400" cy="411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9CA637-7482-2399-D513-43BE570B0F8E}"/>
              </a:ext>
            </a:extLst>
          </p:cNvPr>
          <p:cNvSpPr txBox="1"/>
          <p:nvPr/>
        </p:nvSpPr>
        <p:spPr>
          <a:xfrm>
            <a:off x="594360" y="6439212"/>
            <a:ext cx="2743200" cy="41549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n-US" sz="1050" b="1" dirty="0">
                <a:solidFill>
                  <a:srgbClr val="5C5C5C"/>
                </a:solidFill>
                <a:latin typeface="Aptos"/>
              </a:rPr>
              <a:t>SCOUT </a:t>
            </a:r>
            <a:r>
              <a:rPr sz="1050" b="1" dirty="0">
                <a:solidFill>
                  <a:srgbClr val="5C5C5C"/>
                </a:solidFill>
                <a:latin typeface="Aptos"/>
              </a:rPr>
              <a:t>DATA </a:t>
            </a:r>
            <a:r>
              <a:rPr lang="en-US" sz="1050" b="1" dirty="0">
                <a:solidFill>
                  <a:srgbClr val="5C5C5C"/>
                </a:solidFill>
                <a:latin typeface="Aptos"/>
              </a:rPr>
              <a:t> ANALYTICS  &amp; VSUALIZATION</a:t>
            </a:r>
            <a:endParaRPr sz="1050" b="1" dirty="0">
              <a:solidFill>
                <a:srgbClr val="5C5C5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C5C5C"/>
                </a:solidFill>
                <a:latin typeface="Aptos"/>
              </a:rPr>
              <a:t>FOLLOW THE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858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ptos"/>
              </a:rPr>
              <a:t>A day at SCOUT Mart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057400"/>
            <a:ext cx="411480" cy="41148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ight Arrow 5"/>
          <p:cNvSpPr/>
          <p:nvPr/>
        </p:nvSpPr>
        <p:spPr>
          <a:xfrm>
            <a:off x="1216152" y="2139696"/>
            <a:ext cx="658368" cy="256032"/>
          </a:xfrm>
          <a:prstGeom prst="rightArrow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665586"/>
            <a:ext cx="731520" cy="29238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chemeClr val="accent6"/>
                </a:solidFill>
                <a:latin typeface="Aptos"/>
              </a:rPr>
              <a:t>8:00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063240"/>
            <a:ext cx="1554480" cy="7315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1414"/>
                </a:solidFill>
                <a:latin typeface="Aptos"/>
              </a:rPr>
              <a:t>Employees arrive</a:t>
            </a:r>
          </a:p>
        </p:txBody>
      </p:sp>
      <p:sp>
        <p:nvSpPr>
          <p:cNvPr id="9" name="Oval 8"/>
          <p:cNvSpPr/>
          <p:nvPr/>
        </p:nvSpPr>
        <p:spPr>
          <a:xfrm>
            <a:off x="2560320" y="2057400"/>
            <a:ext cx="411480" cy="41148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3090672" y="2139696"/>
            <a:ext cx="658368" cy="256032"/>
          </a:xfrm>
          <a:prstGeom prst="rightArrow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23160" y="2665586"/>
            <a:ext cx="731520" cy="29238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chemeClr val="accent6"/>
                </a:solidFill>
                <a:latin typeface="Aptos"/>
              </a:rPr>
              <a:t>10:00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39" y="3063240"/>
            <a:ext cx="1554480" cy="7315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1414"/>
                </a:solidFill>
                <a:latin typeface="Aptos"/>
              </a:rPr>
              <a:t>Mall opens</a:t>
            </a:r>
          </a:p>
        </p:txBody>
      </p:sp>
      <p:sp>
        <p:nvSpPr>
          <p:cNvPr id="13" name="Oval 12"/>
          <p:cNvSpPr/>
          <p:nvPr/>
        </p:nvSpPr>
        <p:spPr>
          <a:xfrm>
            <a:off x="4434840" y="2057400"/>
            <a:ext cx="411480" cy="41148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4965192" y="2139696"/>
            <a:ext cx="658368" cy="256032"/>
          </a:xfrm>
          <a:prstGeom prst="rightArrow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7679" y="2665586"/>
            <a:ext cx="731520" cy="29238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chemeClr val="accent6"/>
                </a:solidFill>
                <a:latin typeface="Aptos"/>
              </a:rPr>
              <a:t>13:00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59" y="3063240"/>
            <a:ext cx="1554480" cy="7315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1414"/>
                </a:solidFill>
                <a:latin typeface="Aptos"/>
              </a:rPr>
              <a:t>Lunch traffic rises</a:t>
            </a:r>
          </a:p>
        </p:txBody>
      </p:sp>
      <p:sp>
        <p:nvSpPr>
          <p:cNvPr id="17" name="Oval 16"/>
          <p:cNvSpPr/>
          <p:nvPr/>
        </p:nvSpPr>
        <p:spPr>
          <a:xfrm>
            <a:off x="6309359" y="2057400"/>
            <a:ext cx="411480" cy="41148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6839712" y="2139696"/>
            <a:ext cx="658368" cy="256032"/>
          </a:xfrm>
          <a:prstGeom prst="rightArrow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72199" y="2665586"/>
            <a:ext cx="731520" cy="29238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chemeClr val="accent6"/>
                </a:solidFill>
                <a:latin typeface="Aptos"/>
              </a:rPr>
              <a:t>15:00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79" y="3063240"/>
            <a:ext cx="1554480" cy="7315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1414"/>
                </a:solidFill>
                <a:latin typeface="Aptos"/>
              </a:rPr>
              <a:t>Promotion begins</a:t>
            </a:r>
          </a:p>
        </p:txBody>
      </p:sp>
      <p:sp>
        <p:nvSpPr>
          <p:cNvPr id="21" name="Oval 20"/>
          <p:cNvSpPr/>
          <p:nvPr/>
        </p:nvSpPr>
        <p:spPr>
          <a:xfrm>
            <a:off x="8183879" y="2057400"/>
            <a:ext cx="411480" cy="41148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ght Arrow 21"/>
          <p:cNvSpPr/>
          <p:nvPr/>
        </p:nvSpPr>
        <p:spPr>
          <a:xfrm>
            <a:off x="8714232" y="2139696"/>
            <a:ext cx="658368" cy="256032"/>
          </a:xfrm>
          <a:prstGeom prst="rightArrow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19" y="2665586"/>
            <a:ext cx="731520" cy="29238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chemeClr val="accent6"/>
                </a:solidFill>
                <a:latin typeface="Aptos"/>
              </a:rPr>
              <a:t>18:00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063240"/>
            <a:ext cx="1554480" cy="7315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1414"/>
                </a:solidFill>
                <a:latin typeface="Aptos"/>
              </a:rPr>
              <a:t>Traffic peaks</a:t>
            </a:r>
          </a:p>
        </p:txBody>
      </p:sp>
      <p:sp>
        <p:nvSpPr>
          <p:cNvPr id="25" name="Oval 24"/>
          <p:cNvSpPr/>
          <p:nvPr/>
        </p:nvSpPr>
        <p:spPr>
          <a:xfrm>
            <a:off x="10058400" y="2057400"/>
            <a:ext cx="411480" cy="41148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21240" y="2665586"/>
            <a:ext cx="731520" cy="29238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chemeClr val="accent6"/>
                </a:solidFill>
                <a:latin typeface="Aptos"/>
              </a:rPr>
              <a:t>21:00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3063240"/>
            <a:ext cx="1554480" cy="7315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1414"/>
                </a:solidFill>
                <a:latin typeface="Aptos"/>
              </a:rPr>
              <a:t>Mall closes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617720"/>
            <a:ext cx="6583680" cy="9144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Aptos"/>
              </a:rPr>
              <a:t>Thousands of events.
Thousands of records.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5C5C"/>
                </a:solidFill>
                <a:latin typeface="Aptos"/>
              </a:rPr>
              <a:t>07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201168"/>
            <a:ext cx="914400" cy="411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3B93CEC-F049-19F2-92F9-617D55ECF1BD}"/>
              </a:ext>
            </a:extLst>
          </p:cNvPr>
          <p:cNvSpPr txBox="1"/>
          <p:nvPr/>
        </p:nvSpPr>
        <p:spPr>
          <a:xfrm>
            <a:off x="685800" y="6036515"/>
            <a:ext cx="2743200" cy="41549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n-US" sz="1050" b="1" dirty="0">
                <a:solidFill>
                  <a:srgbClr val="5C5C5C"/>
                </a:solidFill>
                <a:latin typeface="Aptos"/>
              </a:rPr>
              <a:t>SCOUT </a:t>
            </a:r>
            <a:r>
              <a:rPr sz="1050" b="1" dirty="0">
                <a:solidFill>
                  <a:srgbClr val="5C5C5C"/>
                </a:solidFill>
                <a:latin typeface="Aptos"/>
              </a:rPr>
              <a:t>DATA </a:t>
            </a:r>
            <a:r>
              <a:rPr lang="en-US" sz="1050" b="1" dirty="0">
                <a:solidFill>
                  <a:srgbClr val="5C5C5C"/>
                </a:solidFill>
                <a:latin typeface="Aptos"/>
              </a:rPr>
              <a:t> ANALYTICS  &amp; VSUALIZATION</a:t>
            </a:r>
            <a:endParaRPr sz="1050" b="1" dirty="0">
              <a:solidFill>
                <a:srgbClr val="5C5C5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C5C5C"/>
                </a:solidFill>
                <a:latin typeface="Aptos"/>
              </a:rPr>
              <a:t>THE BUSINESS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858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ptos"/>
              </a:rPr>
              <a:t>SCOUT Mart has a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73126"/>
            <a:ext cx="6400800" cy="67710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3800" b="1" dirty="0">
                <a:solidFill>
                  <a:schemeClr val="accent6"/>
                </a:solidFill>
                <a:latin typeface="Aptos"/>
              </a:rPr>
              <a:t>SALES ARE DOWN.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68880"/>
            <a:ext cx="5943600" cy="4114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Aptos"/>
              </a:rPr>
              <a:t>Management wants answers.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417320"/>
            <a:ext cx="3931920" cy="54864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23760" y="1520913"/>
            <a:ext cx="3566160" cy="323165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chemeClr val="bg1"/>
                </a:solidFill>
                <a:latin typeface="Aptos"/>
              </a:rPr>
              <a:t>Which products?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2167128"/>
            <a:ext cx="3931920" cy="54864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0" y="2270721"/>
            <a:ext cx="3566160" cy="323165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chemeClr val="bg1"/>
                </a:solidFill>
                <a:latin typeface="Aptos"/>
              </a:rPr>
              <a:t>Which stores?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2916936"/>
            <a:ext cx="3931920" cy="54864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0" y="2999232"/>
            <a:ext cx="3566160" cy="36576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defRPr sz="1500" b="1">
                <a:solidFill>
                  <a:srgbClr val="141414"/>
                </a:solidFill>
                <a:latin typeface="Aptos"/>
              </a:defRPr>
            </a:lvl1pPr>
          </a:lstStyle>
          <a:p>
            <a:r>
              <a:rPr dirty="0">
                <a:solidFill>
                  <a:schemeClr val="bg1"/>
                </a:solidFill>
              </a:rPr>
              <a:t>Which customers?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3666744"/>
            <a:ext cx="3931920" cy="54864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0" y="3770336"/>
            <a:ext cx="3566160" cy="323165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chemeClr val="bg1"/>
                </a:solidFill>
                <a:latin typeface="Aptos"/>
              </a:rPr>
              <a:t>When did it begin?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4416552"/>
            <a:ext cx="3931920" cy="54864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0" y="4520145"/>
            <a:ext cx="3566160" cy="323165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chemeClr val="bg1"/>
                </a:solidFill>
                <a:latin typeface="Aptos"/>
              </a:rPr>
              <a:t>Why did it happen?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120640"/>
            <a:ext cx="5212080" cy="4114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5C5C5C"/>
                </a:solidFill>
                <a:latin typeface="Aptos"/>
              </a:rPr>
              <a:t>Someone has to investigate.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532120"/>
            <a:ext cx="5212080" cy="4114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chemeClr val="accent6"/>
                </a:solidFill>
                <a:latin typeface="Aptos"/>
              </a:rPr>
              <a:t>Enter the data analyst.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5C5C"/>
                </a:solidFill>
                <a:latin typeface="Aptos"/>
              </a:rPr>
              <a:t>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01168"/>
            <a:ext cx="914400" cy="411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1281A9-D9E8-0F06-65B5-16483E2B23C8}"/>
              </a:ext>
            </a:extLst>
          </p:cNvPr>
          <p:cNvSpPr txBox="1"/>
          <p:nvPr/>
        </p:nvSpPr>
        <p:spPr>
          <a:xfrm>
            <a:off x="594360" y="6133920"/>
            <a:ext cx="2743200" cy="41549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n-US" sz="1050" b="1" dirty="0">
                <a:solidFill>
                  <a:srgbClr val="5C5C5C"/>
                </a:solidFill>
                <a:latin typeface="Aptos"/>
              </a:rPr>
              <a:t>SCOUT </a:t>
            </a:r>
            <a:r>
              <a:rPr sz="1050" b="1" dirty="0">
                <a:solidFill>
                  <a:srgbClr val="5C5C5C"/>
                </a:solidFill>
                <a:latin typeface="Aptos"/>
              </a:rPr>
              <a:t>DATA </a:t>
            </a:r>
            <a:r>
              <a:rPr lang="en-US" sz="1050" b="1" dirty="0">
                <a:solidFill>
                  <a:srgbClr val="5C5C5C"/>
                </a:solidFill>
                <a:latin typeface="Aptos"/>
              </a:rPr>
              <a:t> ANALYTICS  &amp; VSUALIZATION</a:t>
            </a:r>
            <a:endParaRPr sz="1050" b="1" dirty="0">
              <a:solidFill>
                <a:srgbClr val="5C5C5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C5C5C"/>
                </a:solidFill>
                <a:latin typeface="Aptos"/>
              </a:rPr>
              <a:t>THE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858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ptos"/>
              </a:rPr>
              <a:t>What is data analytics?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914400" cy="5486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0332720" cy="11887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Aptos"/>
              </a:rPr>
              <a:t>The process of examining data to answer questions,
uncover patterns, generate insights and support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977639"/>
            <a:ext cx="1920240" cy="82296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4160520"/>
            <a:ext cx="1920240" cy="36576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700" b="1" dirty="0">
                <a:solidFill>
                  <a:schemeClr val="bg1"/>
                </a:solidFill>
                <a:latin typeface="Aptos"/>
              </a:rPr>
              <a:t>DATA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26080" y="4270248"/>
            <a:ext cx="502920" cy="256032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611880" y="3977639"/>
            <a:ext cx="1920240" cy="82296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4160520"/>
            <a:ext cx="1920240" cy="36576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700" b="1" dirty="0">
                <a:solidFill>
                  <a:schemeClr val="bg1"/>
                </a:solidFill>
                <a:latin typeface="Aptos"/>
              </a:rPr>
              <a:t>ANALYSIS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669280" y="4270248"/>
            <a:ext cx="502920" cy="256032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55080" y="3977639"/>
            <a:ext cx="1920240" cy="82296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4160520"/>
            <a:ext cx="1920240" cy="36576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700" b="1" dirty="0">
                <a:solidFill>
                  <a:schemeClr val="bg1"/>
                </a:solidFill>
                <a:latin typeface="Aptos"/>
              </a:rPr>
              <a:t>INSIGHT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412480" y="4270248"/>
            <a:ext cx="502920" cy="256032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098280" y="3977639"/>
            <a:ext cx="1920240" cy="82296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98280" y="4160520"/>
            <a:ext cx="1920240" cy="36576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700" b="1" dirty="0">
                <a:solidFill>
                  <a:schemeClr val="bg1"/>
                </a:solidFill>
                <a:latin typeface="Aptos"/>
              </a:rPr>
              <a:t>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5C5C"/>
                </a:solidFill>
                <a:latin typeface="Aptos"/>
              </a:rPr>
              <a:t>09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01168"/>
            <a:ext cx="914400" cy="411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593902-693E-1AC6-37E9-6626AF7CBE9C}"/>
              </a:ext>
            </a:extLst>
          </p:cNvPr>
          <p:cNvSpPr txBox="1"/>
          <p:nvPr/>
        </p:nvSpPr>
        <p:spPr>
          <a:xfrm>
            <a:off x="685800" y="6353071"/>
            <a:ext cx="2743200" cy="41549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n-US" sz="1050" b="1" dirty="0">
                <a:solidFill>
                  <a:srgbClr val="5C5C5C"/>
                </a:solidFill>
                <a:latin typeface="Aptos"/>
              </a:rPr>
              <a:t>SCOUT </a:t>
            </a:r>
            <a:r>
              <a:rPr sz="1050" b="1" dirty="0">
                <a:solidFill>
                  <a:srgbClr val="5C5C5C"/>
                </a:solidFill>
                <a:latin typeface="Aptos"/>
              </a:rPr>
              <a:t>DATA </a:t>
            </a:r>
            <a:r>
              <a:rPr lang="en-US" sz="1050" b="1" dirty="0">
                <a:solidFill>
                  <a:srgbClr val="5C5C5C"/>
                </a:solidFill>
                <a:latin typeface="Aptos"/>
              </a:rPr>
              <a:t> ANALYTICS  &amp; VSUALIZATION</a:t>
            </a:r>
            <a:endParaRPr sz="1050" b="1" dirty="0">
              <a:solidFill>
                <a:srgbClr val="5C5C5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C5C5C"/>
                </a:solidFill>
                <a:latin typeface="Aptos"/>
              </a:rPr>
              <a:t>TURNING NUMBERS INTO MEANING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858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ptos"/>
              </a:rPr>
              <a:t>Data → Information → Insight →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286000" cy="22860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92024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A6CE39"/>
                </a:solidFill>
                <a:latin typeface="Aptos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38876"/>
            <a:ext cx="1645920" cy="147732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800" b="1" dirty="0">
                <a:solidFill>
                  <a:schemeClr val="bg1"/>
                </a:solidFill>
                <a:latin typeface="Aptos"/>
              </a:rPr>
              <a:t>₦15,000
₦22,500
₦18,000
₦41,000
₦12,500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63240" y="2743200"/>
            <a:ext cx="594360" cy="256032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749039" y="1828800"/>
            <a:ext cx="2286000" cy="22860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0" y="2011680"/>
            <a:ext cx="192024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A6CE39"/>
                </a:solidFill>
                <a:latin typeface="Aptos"/>
              </a:rPr>
              <a:t>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717214"/>
            <a:ext cx="1828800" cy="64633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800" b="1" dirty="0">
                <a:solidFill>
                  <a:schemeClr val="bg1"/>
                </a:solidFill>
                <a:latin typeface="Aptos"/>
              </a:rPr>
              <a:t>Total sales:
₦109,000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172200" y="2743200"/>
            <a:ext cx="594360" cy="256032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58000" y="1828800"/>
            <a:ext cx="2286000" cy="22860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0" y="2011680"/>
            <a:ext cx="192024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A6CE39"/>
                </a:solidFill>
                <a:latin typeface="Aptos"/>
              </a:rPr>
              <a:t>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2671048"/>
            <a:ext cx="1874519" cy="73866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chemeClr val="bg1"/>
                </a:solidFill>
                <a:latin typeface="Aptos"/>
              </a:rPr>
              <a:t>Electronics has
the highest average
transaction value.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281160" y="2743200"/>
            <a:ext cx="594360" cy="256032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966960" y="1828800"/>
            <a:ext cx="1600200" cy="2286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0" y="2057400"/>
            <a:ext cx="141732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1414"/>
                </a:solidFill>
                <a:latin typeface="Aptos"/>
              </a:rPr>
              <a:t>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76688" y="2606040"/>
            <a:ext cx="1371600" cy="9144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Investigate
premium
electronics
promotions.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5C5C"/>
                </a:solidFill>
                <a:latin typeface="Aptos"/>
              </a:rPr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201168"/>
            <a:ext cx="914400" cy="411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B08D43-F9E5-7713-A906-FBE40EB3D919}"/>
              </a:ext>
            </a:extLst>
          </p:cNvPr>
          <p:cNvSpPr txBox="1"/>
          <p:nvPr/>
        </p:nvSpPr>
        <p:spPr>
          <a:xfrm>
            <a:off x="547165" y="6145322"/>
            <a:ext cx="2743200" cy="41549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n-US" sz="1050" b="1" dirty="0">
                <a:solidFill>
                  <a:srgbClr val="5C5C5C"/>
                </a:solidFill>
                <a:latin typeface="Aptos"/>
              </a:rPr>
              <a:t>SCOUT </a:t>
            </a:r>
            <a:r>
              <a:rPr sz="1050" b="1" dirty="0">
                <a:solidFill>
                  <a:srgbClr val="5C5C5C"/>
                </a:solidFill>
                <a:latin typeface="Aptos"/>
              </a:rPr>
              <a:t>DATA </a:t>
            </a:r>
            <a:r>
              <a:rPr lang="en-US" sz="1050" b="1" dirty="0">
                <a:solidFill>
                  <a:srgbClr val="5C5C5C"/>
                </a:solidFill>
                <a:latin typeface="Aptos"/>
              </a:rPr>
              <a:t> ANALYTICS  &amp; VSUALIZATION</a:t>
            </a:r>
            <a:endParaRPr sz="1050" b="1" dirty="0">
              <a:solidFill>
                <a:srgbClr val="5C5C5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C5C5C"/>
                </a:solidFill>
                <a:latin typeface="Aptos"/>
              </a:rPr>
              <a:t>WHO DOES THE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858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ptos"/>
              </a:rPr>
              <a:t>Meet the data analyst</a:t>
            </a:r>
          </a:p>
        </p:txBody>
      </p:sp>
      <p:sp>
        <p:nvSpPr>
          <p:cNvPr id="5" name="Oval 4"/>
          <p:cNvSpPr/>
          <p:nvPr/>
        </p:nvSpPr>
        <p:spPr>
          <a:xfrm>
            <a:off x="5166360" y="1874519"/>
            <a:ext cx="914400" cy="914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800600" y="2743200"/>
            <a:ext cx="1645920" cy="11430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92040" y="3108960"/>
            <a:ext cx="146304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chemeClr val="bg1"/>
                </a:solidFill>
                <a:latin typeface="Aptos"/>
              </a:rPr>
              <a:t>ANALYST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91640"/>
            <a:ext cx="123444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00784"/>
            <a:ext cx="123444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41414"/>
                </a:solidFill>
                <a:latin typeface="Aptos"/>
              </a:rPr>
              <a:t>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132588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  <a:latin typeface="Aptos"/>
              </a:rPr>
              <a:t>questions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069080"/>
            <a:ext cx="123444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078224"/>
            <a:ext cx="123444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41414"/>
                </a:solidFill>
                <a:latin typeface="Aptos"/>
              </a:rPr>
              <a:t>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526280"/>
            <a:ext cx="132588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  <a:latin typeface="Aptos"/>
              </a:rPr>
              <a:t>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4846320"/>
            <a:ext cx="1234440" cy="384048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08960" y="4855464"/>
            <a:ext cx="1234440" cy="347472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41414"/>
                </a:solidFill>
                <a:latin typeface="Aptos"/>
              </a:rPr>
              <a:t>PREPARE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5303520"/>
            <a:ext cx="132588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  <a:latin typeface="Aptos"/>
              </a:rPr>
              <a:t>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846320"/>
            <a:ext cx="123444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4855464"/>
            <a:ext cx="123444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41414"/>
                </a:solidFill>
                <a:latin typeface="Aptos"/>
              </a:rPr>
              <a:t>ANALYZE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5303520"/>
            <a:ext cx="132588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  <a:latin typeface="Aptos"/>
              </a:rPr>
              <a:t>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4069080"/>
            <a:ext cx="123444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23960" y="4078224"/>
            <a:ext cx="123444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41414"/>
                </a:solidFill>
                <a:latin typeface="Aptos"/>
              </a:rPr>
              <a:t>COMMUNICATE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526280"/>
            <a:ext cx="132588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  <a:latin typeface="Aptos"/>
              </a:rPr>
              <a:t>insights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3960" y="1691640"/>
            <a:ext cx="123444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23960" y="1700784"/>
            <a:ext cx="123444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41414"/>
                </a:solidFill>
                <a:latin typeface="Aptos"/>
              </a:rPr>
              <a:t>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148840"/>
            <a:ext cx="132588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  <a:latin typeface="Aptos"/>
              </a:rPr>
              <a:t>decisions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5C5C"/>
                </a:solidFill>
                <a:latin typeface="Aptos"/>
              </a:rPr>
              <a:t>11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201168"/>
            <a:ext cx="914400" cy="411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ea09abb9-e674-44ae-a0a3-83099ed100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167" y="3557016"/>
            <a:ext cx="868680" cy="86868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0EE74BE-909C-9542-0F90-45167A99A5D4}"/>
              </a:ext>
            </a:extLst>
          </p:cNvPr>
          <p:cNvSpPr txBox="1"/>
          <p:nvPr/>
        </p:nvSpPr>
        <p:spPr>
          <a:xfrm>
            <a:off x="624840" y="6248469"/>
            <a:ext cx="2743200" cy="41549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n-US" sz="1050" b="1" dirty="0">
                <a:solidFill>
                  <a:srgbClr val="5C5C5C"/>
                </a:solidFill>
                <a:latin typeface="Aptos"/>
              </a:rPr>
              <a:t>SCOUT </a:t>
            </a:r>
            <a:r>
              <a:rPr sz="1050" b="1" dirty="0">
                <a:solidFill>
                  <a:srgbClr val="5C5C5C"/>
                </a:solidFill>
                <a:latin typeface="Aptos"/>
              </a:rPr>
              <a:t>DATA </a:t>
            </a:r>
            <a:r>
              <a:rPr lang="en-US" sz="1050" b="1" dirty="0">
                <a:solidFill>
                  <a:srgbClr val="5C5C5C"/>
                </a:solidFill>
                <a:latin typeface="Aptos"/>
              </a:rPr>
              <a:t> ANALYTICS  &amp; VSUALIZATION</a:t>
            </a:r>
            <a:endParaRPr sz="1050" b="1" dirty="0">
              <a:solidFill>
                <a:srgbClr val="5C5C5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C5C5C"/>
                </a:solidFill>
                <a:latin typeface="Aptos"/>
              </a:rPr>
              <a:t>FROM QUESTION TO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858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ptos"/>
              </a:rPr>
              <a:t>The data analytics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2468880" cy="14173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" y="1847088"/>
            <a:ext cx="384048" cy="384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384048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47088"/>
            <a:ext cx="1645920" cy="29260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1414"/>
                </a:solidFill>
                <a:latin typeface="Aptos"/>
              </a:rPr>
              <a:t>DEFINE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13432"/>
            <a:ext cx="2148840" cy="5486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What problem are we solving?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91640"/>
            <a:ext cx="2468880" cy="14173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11879" y="1847088"/>
            <a:ext cx="384048" cy="38404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79" y="1874520"/>
            <a:ext cx="384048" cy="274320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847088"/>
            <a:ext cx="1645920" cy="29260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1414"/>
                </a:solidFill>
                <a:latin typeface="Aptos"/>
              </a:rPr>
              <a:t>COLLECT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2313432"/>
            <a:ext cx="2148840" cy="5486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What data do we need?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691640"/>
            <a:ext cx="2468880" cy="14173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92240" y="1847088"/>
            <a:ext cx="384048" cy="384048"/>
          </a:xfrm>
          <a:prstGeom prst="ellipse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874520"/>
            <a:ext cx="384048" cy="2743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847088"/>
            <a:ext cx="1645920" cy="29260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1414"/>
                </a:solidFill>
                <a:latin typeface="Aptos"/>
              </a:rPr>
              <a:t>PREPARE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13432"/>
            <a:ext cx="2148840" cy="5486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Can we trust the data?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691640"/>
            <a:ext cx="2468880" cy="14173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372600" y="1847088"/>
            <a:ext cx="384048" cy="38404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72600" y="1874520"/>
            <a:ext cx="384048" cy="274320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19" y="1847088"/>
            <a:ext cx="1645920" cy="29260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1414"/>
                </a:solidFill>
                <a:latin typeface="Aptos"/>
              </a:rPr>
              <a:t>EXPLORE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313432"/>
            <a:ext cx="2148840" cy="5486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What is happening?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03320"/>
            <a:ext cx="2468880" cy="14173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31520" y="3858768"/>
            <a:ext cx="384048" cy="384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3886200"/>
            <a:ext cx="384048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3858768"/>
            <a:ext cx="1645920" cy="29260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1414"/>
                </a:solidFill>
                <a:latin typeface="Aptos"/>
              </a:rPr>
              <a:t>ANALYZE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325112"/>
            <a:ext cx="2148840" cy="5486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What does the evidence tell us?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0" y="3703320"/>
            <a:ext cx="2468880" cy="14173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611879" y="3858768"/>
            <a:ext cx="384048" cy="38404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11879" y="3886200"/>
            <a:ext cx="384048" cy="274320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3858768"/>
            <a:ext cx="1645920" cy="29260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1414"/>
                </a:solidFill>
                <a:latin typeface="Aptos"/>
              </a:rPr>
              <a:t>COMMUNICATE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79" y="4325112"/>
            <a:ext cx="2148840" cy="5486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How do we explain it?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3703320"/>
            <a:ext cx="2468880" cy="14173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492240" y="3858768"/>
            <a:ext cx="384048" cy="384048"/>
          </a:xfrm>
          <a:prstGeom prst="ellipse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92240" y="3886200"/>
            <a:ext cx="384048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  <a:latin typeface="Aptos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3858768"/>
            <a:ext cx="1645920" cy="29260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1414"/>
                </a:solidFill>
                <a:latin typeface="Aptos"/>
              </a:rPr>
              <a:t>DECIDE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325112"/>
            <a:ext cx="2148840" cy="5486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What should we do?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5C5C"/>
                </a:solidFill>
                <a:latin typeface="Aptos"/>
              </a:rPr>
              <a:t>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201168"/>
            <a:ext cx="914400" cy="411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ea09abb9-e674-44ae-a0a3-83099ed100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914400"/>
            <a:ext cx="868680" cy="86868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21792" y="132588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5C5C5C"/>
                </a:solidFill>
                <a:latin typeface="Aptos"/>
              </a:rPr>
              <a:t>A repeatable loop: question → evidence → insight → action → better questions.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40680" y="1581911"/>
            <a:ext cx="1371600" cy="59436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40680" y="1719071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DEFINE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57325" y="2270473"/>
            <a:ext cx="1371600" cy="59436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157325" y="2407633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COLLECT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28281" y="3817658"/>
            <a:ext cx="1371600" cy="59436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828281" y="3954818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PREPARE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48304" y="5058403"/>
            <a:ext cx="1371600" cy="59436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948304" y="5195563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EXPLORE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933055" y="5058403"/>
            <a:ext cx="1371600" cy="59436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933055" y="5195563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ANALYZE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053078" y="3817658"/>
            <a:ext cx="1371600" cy="59436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053078" y="3954818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COMMUNICATE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24034" y="2270473"/>
            <a:ext cx="1371600" cy="59436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724034" y="2407633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DECIDE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0" y="3154680"/>
            <a:ext cx="3108960" cy="1143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572000" y="3310128"/>
            <a:ext cx="3108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41414"/>
                </a:solidFill>
                <a:latin typeface="Aptos"/>
              </a:rPr>
              <a:t>THE ANALYST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00600" y="3703320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5C5C5C"/>
                </a:solidFill>
                <a:latin typeface="Aptos"/>
              </a:rPr>
              <a:t>Turns a business question into evidence and a decision.</a:t>
            </a:r>
          </a:p>
        </p:txBody>
      </p:sp>
      <p:pic>
        <p:nvPicPr>
          <p:cNvPr id="65" name="Picture 64" descr="ea09abb9-e674-44ae-a0a3-83099ed100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2834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C5C5C"/>
                </a:solidFill>
                <a:latin typeface="Aptos"/>
              </a:rPr>
              <a:t>TYPES OF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858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ptos"/>
              </a:rPr>
              <a:t>Four questions analytics can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99280"/>
            <a:ext cx="3657600" cy="38472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900" b="1" dirty="0">
                <a:solidFill>
                  <a:schemeClr val="accent6"/>
                </a:solidFill>
                <a:latin typeface="Aptos"/>
              </a:rPr>
              <a:t>SCOUT MART ASKS: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5074920" cy="13716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617720" cy="4114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2100" b="1" dirty="0">
                <a:solidFill>
                  <a:schemeClr val="bg1"/>
                </a:solidFill>
                <a:latin typeface="Aptos"/>
              </a:rPr>
              <a:t>WHAT HAPPENED?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990088"/>
            <a:ext cx="169164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77440" y="2999232"/>
            <a:ext cx="169164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Descriptive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48840"/>
            <a:ext cx="5074920" cy="13716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617720" cy="4114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chemeClr val="bg1"/>
                </a:solidFill>
                <a:latin typeface="Aptos"/>
              </a:rPr>
              <a:t>WHY DID IT HAPPEN?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990088"/>
            <a:ext cx="169164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79" y="2999232"/>
            <a:ext cx="169164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Diagnostic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31920"/>
            <a:ext cx="5074920" cy="13716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4617720" cy="4114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chemeClr val="bg1"/>
                </a:solidFill>
                <a:latin typeface="Aptos"/>
              </a:rPr>
              <a:t>WHAT MIGHT HAPPEN?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7440" y="4773168"/>
            <a:ext cx="169164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77440" y="4782312"/>
            <a:ext cx="169164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Predictive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931920"/>
            <a:ext cx="5074920" cy="13716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4160520"/>
            <a:ext cx="4617720" cy="4114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chemeClr val="bg1"/>
                </a:solidFill>
                <a:latin typeface="Aptos"/>
              </a:rPr>
              <a:t>WHAT SHOULD WE DO?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4773168"/>
            <a:ext cx="169164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79" y="4782312"/>
            <a:ext cx="169164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Prescriptive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5C5C"/>
                </a:solidFill>
                <a:latin typeface="Aptos"/>
              </a:rPr>
              <a:t>13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01168"/>
            <a:ext cx="914400" cy="411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741DF5-4FAE-FDCB-20D9-A25883BDC999}"/>
              </a:ext>
            </a:extLst>
          </p:cNvPr>
          <p:cNvSpPr txBox="1"/>
          <p:nvPr/>
        </p:nvSpPr>
        <p:spPr>
          <a:xfrm>
            <a:off x="594360" y="6466814"/>
            <a:ext cx="2743200" cy="21544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n-US" sz="800" b="1" dirty="0">
                <a:solidFill>
                  <a:srgbClr val="5C5C5C"/>
                </a:solidFill>
                <a:latin typeface="Aptos"/>
              </a:rPr>
              <a:t>SCOUT </a:t>
            </a:r>
            <a:r>
              <a:rPr sz="800" b="1" dirty="0">
                <a:solidFill>
                  <a:srgbClr val="5C5C5C"/>
                </a:solidFill>
                <a:latin typeface="Aptos"/>
              </a:rPr>
              <a:t>DATA </a:t>
            </a:r>
            <a:r>
              <a:rPr lang="en-US" sz="800" b="1" dirty="0">
                <a:solidFill>
                  <a:srgbClr val="5C5C5C"/>
                </a:solidFill>
                <a:latin typeface="Aptos"/>
              </a:rPr>
              <a:t> ANALYTICS  &amp; VISUALIZATION</a:t>
            </a:r>
            <a:endParaRPr sz="800" b="1" dirty="0">
              <a:solidFill>
                <a:srgbClr val="5C5C5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C5C5C"/>
                </a:solidFill>
                <a:latin typeface="Aptos"/>
              </a:rPr>
              <a:t>A SIMPLE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858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ptos"/>
              </a:rPr>
              <a:t>The four types of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2514600" cy="34290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240280" cy="36576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Aptos"/>
              </a:rPr>
              <a:t>DESCRIPTIVE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26248"/>
            <a:ext cx="2148840" cy="35394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700" b="1" dirty="0">
                <a:solidFill>
                  <a:schemeClr val="accent6"/>
                </a:solidFill>
                <a:latin typeface="Aptos"/>
              </a:rPr>
              <a:t>What happened?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2057400" cy="9144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Sales fell 12% last month.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737360"/>
            <a:ext cx="2514600" cy="34290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79" y="2011680"/>
            <a:ext cx="2240280" cy="36576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Aptos"/>
              </a:rPr>
              <a:t>DIAGNOSTIC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726248"/>
            <a:ext cx="2148840" cy="35394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chemeClr val="accent6"/>
                </a:solidFill>
                <a:latin typeface="Aptos"/>
              </a:rPr>
              <a:t>Why did it happen?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474720"/>
            <a:ext cx="2057400" cy="9144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Electronics sales fell most.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737360"/>
            <a:ext cx="2514600" cy="34290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2240280" cy="36576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Aptos"/>
              </a:rPr>
              <a:t>PREDICTIVE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595444"/>
            <a:ext cx="2148840" cy="61555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chemeClr val="accent6"/>
                </a:solidFill>
                <a:latin typeface="Aptos"/>
              </a:rPr>
              <a:t>What is likely to happen?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474720"/>
            <a:ext cx="2057400" cy="9144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Next month's sales may fall.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737360"/>
            <a:ext cx="2514600" cy="34290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72600" y="2011680"/>
            <a:ext cx="2240280" cy="36576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Aptos"/>
              </a:rPr>
              <a:t>PRESCRIPTIVE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19" y="2595444"/>
            <a:ext cx="2148840" cy="61555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chemeClr val="accent6"/>
                </a:solidFill>
                <a:latin typeface="Aptos"/>
              </a:rPr>
              <a:t>What should we 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3474720"/>
            <a:ext cx="2057400" cy="9144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Increase targeted promotions.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5C5C"/>
                </a:solidFill>
                <a:latin typeface="Aptos"/>
              </a:rPr>
              <a:t>14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01168"/>
            <a:ext cx="914400" cy="411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27A36E-5FF6-BD28-C6DD-987446112ED9}"/>
              </a:ext>
            </a:extLst>
          </p:cNvPr>
          <p:cNvSpPr txBox="1"/>
          <p:nvPr/>
        </p:nvSpPr>
        <p:spPr>
          <a:xfrm>
            <a:off x="594360" y="6466814"/>
            <a:ext cx="2743200" cy="21544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n-US" sz="800" b="1" dirty="0">
                <a:solidFill>
                  <a:srgbClr val="5C5C5C"/>
                </a:solidFill>
                <a:latin typeface="Aptos"/>
              </a:rPr>
              <a:t>SCOUT</a:t>
            </a:r>
            <a:r>
              <a:rPr sz="800" b="1" dirty="0">
                <a:solidFill>
                  <a:srgbClr val="5C5C5C"/>
                </a:solidFill>
                <a:latin typeface="Aptos"/>
              </a:rPr>
              <a:t>DATA </a:t>
            </a:r>
            <a:r>
              <a:rPr lang="en-US" sz="800" b="1" dirty="0">
                <a:solidFill>
                  <a:srgbClr val="5C5C5C"/>
                </a:solidFill>
                <a:latin typeface="Aptos"/>
              </a:rPr>
              <a:t> ANALYTICS  &amp; VISUALIZATION</a:t>
            </a:r>
            <a:endParaRPr sz="800" b="1" dirty="0">
              <a:solidFill>
                <a:srgbClr val="5C5C5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C5C5C"/>
                </a:solidFill>
                <a:latin typeface="Aptos"/>
              </a:rPr>
              <a:t>UNDERSTANDING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858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ptos"/>
              </a:rPr>
              <a:t>What kind of data does SCOUT Mart have?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337560" cy="13716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306324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chemeClr val="accent6"/>
                </a:solidFill>
                <a:latin typeface="Aptos"/>
              </a:rPr>
              <a:t>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450591"/>
            <a:ext cx="297180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Name • Age • Location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337560" cy="13716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965960"/>
            <a:ext cx="306324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chemeClr val="accent6"/>
                </a:solidFill>
                <a:latin typeface="Aptos"/>
              </a:rP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450591"/>
            <a:ext cx="297180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Category • Price • Brand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737360"/>
            <a:ext cx="3337560" cy="13716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60" y="1965960"/>
            <a:ext cx="306324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chemeClr val="accent6"/>
                </a:solidFill>
                <a:latin typeface="Aptos"/>
              </a:rPr>
              <a:t>TRANSACTION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450591"/>
            <a:ext cx="297180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Date • Quantity • Amount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3337560" cy="13716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794760"/>
            <a:ext cx="306324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chemeClr val="accent6"/>
                </a:solidFill>
                <a:latin typeface="Aptos"/>
              </a:rPr>
              <a:t>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279392"/>
            <a:ext cx="297180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Reviews • Comments • Ratings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566160"/>
            <a:ext cx="3337560" cy="13716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3794760"/>
            <a:ext cx="306324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chemeClr val="accent6"/>
                </a:solidFill>
                <a:latin typeface="Aptos"/>
              </a:rPr>
              <a:t>MEDIA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279392"/>
            <a:ext cx="297180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Images • Video • Audio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476920"/>
            <a:ext cx="5943600" cy="38472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chemeClr val="accent6"/>
                </a:solidFill>
                <a:latin typeface="Aptos"/>
              </a:rPr>
              <a:t>Different questions → different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5C5C"/>
                </a:solidFill>
                <a:latin typeface="Aptos"/>
              </a:rPr>
              <a:t>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01168"/>
            <a:ext cx="914400" cy="411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07B223-A711-D620-63D3-B80E8D4546B1}"/>
              </a:ext>
            </a:extLst>
          </p:cNvPr>
          <p:cNvSpPr txBox="1"/>
          <p:nvPr/>
        </p:nvSpPr>
        <p:spPr>
          <a:xfrm>
            <a:off x="594360" y="6466814"/>
            <a:ext cx="2743200" cy="21544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n-US" sz="800" b="1" dirty="0">
                <a:solidFill>
                  <a:srgbClr val="5C5C5C"/>
                </a:solidFill>
                <a:latin typeface="Aptos"/>
              </a:rPr>
              <a:t>SCOUT </a:t>
            </a:r>
            <a:r>
              <a:rPr sz="800" b="1" dirty="0">
                <a:solidFill>
                  <a:srgbClr val="5C5C5C"/>
                </a:solidFill>
                <a:latin typeface="Aptos"/>
              </a:rPr>
              <a:t>DATA </a:t>
            </a:r>
            <a:r>
              <a:rPr lang="en-US" sz="800" b="1" dirty="0">
                <a:solidFill>
                  <a:srgbClr val="5C5C5C"/>
                </a:solidFill>
                <a:latin typeface="Aptos"/>
              </a:rPr>
              <a:t> ANALYTICS  &amp; VISUALIZATION</a:t>
            </a:r>
            <a:endParaRPr sz="800" b="1" dirty="0">
              <a:solidFill>
                <a:srgbClr val="5C5C5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C5C5C"/>
                </a:solidFill>
                <a:latin typeface="Aptos"/>
              </a:rPr>
              <a:t>TYPES OF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858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ptos"/>
              </a:rPr>
              <a:t>Quantitative vs qualitative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212080" cy="32004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4663440" cy="36576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41414"/>
                </a:solidFill>
                <a:latin typeface="Aptos"/>
              </a:rPr>
              <a:t>QUANTITATIVE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86633"/>
            <a:ext cx="4663440" cy="86177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chemeClr val="accent6"/>
                </a:solidFill>
                <a:latin typeface="Aptos"/>
              </a:rPr>
              <a:t>How much?
How many?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57600"/>
            <a:ext cx="4572000" cy="6858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₦25,000   •   42 units   •   18 years
4.7 rating   •   120 customers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212080" cy="32004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148840"/>
            <a:ext cx="4663440" cy="36576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41414"/>
                </a:solidFill>
                <a:latin typeface="Aptos"/>
              </a:rPr>
              <a:t>QUALITATIVE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697480"/>
            <a:ext cx="4663440" cy="6400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41414"/>
                </a:solidFill>
                <a:latin typeface="Aptos"/>
              </a:rPr>
              <a:t>What?
Why?   How?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657600"/>
            <a:ext cx="4572000" cy="6858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Aptos"/>
              </a:rPr>
              <a:t>Customer comments
Reviews   •   Descriptions   •   Categories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5C5C"/>
                </a:solidFill>
                <a:latin typeface="Aptos"/>
              </a:rPr>
              <a:t>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01168"/>
            <a:ext cx="914400" cy="411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6387BB-1848-86A5-5742-441484D5A45A}"/>
              </a:ext>
            </a:extLst>
          </p:cNvPr>
          <p:cNvSpPr txBox="1"/>
          <p:nvPr/>
        </p:nvSpPr>
        <p:spPr>
          <a:xfrm>
            <a:off x="594360" y="6466814"/>
            <a:ext cx="2743200" cy="21544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n-US" sz="800" b="1" dirty="0">
                <a:solidFill>
                  <a:srgbClr val="5C5C5C"/>
                </a:solidFill>
                <a:latin typeface="Aptos"/>
              </a:rPr>
              <a:t>SCOUT </a:t>
            </a:r>
            <a:r>
              <a:rPr sz="800" b="1" dirty="0">
                <a:solidFill>
                  <a:srgbClr val="5C5C5C"/>
                </a:solidFill>
                <a:latin typeface="Aptos"/>
              </a:rPr>
              <a:t>DATA </a:t>
            </a:r>
            <a:r>
              <a:rPr lang="en-US" sz="800" b="1" dirty="0">
                <a:solidFill>
                  <a:srgbClr val="5C5C5C"/>
                </a:solidFill>
                <a:latin typeface="Aptos"/>
              </a:rPr>
              <a:t> ANALYTICS  &amp; VISUALIZATION</a:t>
            </a:r>
            <a:endParaRPr sz="800" b="1" dirty="0">
              <a:solidFill>
                <a:srgbClr val="5C5C5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C5C5C"/>
                </a:solidFill>
                <a:latin typeface="Aptos"/>
              </a:rPr>
              <a:t>GROUPS &amp;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858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ptos"/>
              </a:rPr>
              <a:t>Categorical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8229600" cy="4114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41414"/>
                </a:solidFill>
                <a:latin typeface="Aptos"/>
              </a:rPr>
              <a:t>Categorical data represents groups or categories.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5166360" cy="25603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4709160" cy="36576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41414"/>
                </a:solidFill>
                <a:latin typeface="Aptos"/>
              </a:rPr>
              <a:t>NOMINAL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76843"/>
            <a:ext cx="4709160" cy="33855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chemeClr val="accent6"/>
                </a:solidFill>
                <a:latin typeface="Aptos"/>
              </a:rPr>
              <a:t>No inherent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4434840" cy="59436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Payment method • Product category • Country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48840"/>
            <a:ext cx="5166360" cy="25603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709160" cy="36576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41414"/>
                </a:solidFill>
                <a:latin typeface="Aptos"/>
              </a:rPr>
              <a:t>ORDINAL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076843"/>
            <a:ext cx="4709160" cy="33855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chemeClr val="accent6"/>
                </a:solidFill>
                <a:latin typeface="Aptos"/>
              </a:rPr>
              <a:t>Has an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749039"/>
            <a:ext cx="4434840" cy="59436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Poor → Fair → Good → Excellent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9784080" cy="4572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5C5C5C"/>
                </a:solidFill>
                <a:latin typeface="Aptos"/>
              </a:rPr>
              <a:t>Numbers can label categories without being numerical measurements.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5C5C"/>
                </a:solidFill>
                <a:latin typeface="Aptos"/>
              </a:rPr>
              <a:t>17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01168"/>
            <a:ext cx="914400" cy="411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808C65-4E06-AA50-8505-DF3E73678E3A}"/>
              </a:ext>
            </a:extLst>
          </p:cNvPr>
          <p:cNvSpPr txBox="1"/>
          <p:nvPr/>
        </p:nvSpPr>
        <p:spPr>
          <a:xfrm>
            <a:off x="594360" y="6466814"/>
            <a:ext cx="2743200" cy="21544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n-US" sz="800" b="1" dirty="0">
                <a:solidFill>
                  <a:srgbClr val="5C5C5C"/>
                </a:solidFill>
                <a:latin typeface="Aptos"/>
              </a:rPr>
              <a:t>SCOUT </a:t>
            </a:r>
            <a:r>
              <a:rPr sz="800" b="1" dirty="0">
                <a:solidFill>
                  <a:srgbClr val="5C5C5C"/>
                </a:solidFill>
                <a:latin typeface="Aptos"/>
              </a:rPr>
              <a:t>DATA </a:t>
            </a:r>
            <a:r>
              <a:rPr lang="en-US" sz="800" b="1" dirty="0">
                <a:solidFill>
                  <a:srgbClr val="5C5C5C"/>
                </a:solidFill>
                <a:latin typeface="Aptos"/>
              </a:rPr>
              <a:t> ANALYTICS  &amp; VISUALIZATION</a:t>
            </a:r>
            <a:endParaRPr sz="800" b="1" dirty="0">
              <a:solidFill>
                <a:srgbClr val="5C5C5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C5C5C"/>
                </a:solidFill>
                <a:latin typeface="Aptos"/>
              </a:rPr>
              <a:t>DATA FORMATS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858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ptos"/>
              </a:rPr>
              <a:t>Where does the data live?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3474720" cy="34290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3108960" cy="4114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41414"/>
                </a:solidFill>
                <a:latin typeface="Aptos"/>
              </a:rPr>
              <a:t>STRUCTURED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38817"/>
            <a:ext cx="2926080" cy="323165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chemeClr val="accent6"/>
                </a:solidFill>
                <a:latin typeface="Aptos"/>
              </a:rPr>
              <a:t>Rows &amp; columns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77639"/>
            <a:ext cx="2926080" cy="6400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CSV • Excel • SQL databases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83080"/>
            <a:ext cx="3474720" cy="34290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4572000" y="2148840"/>
            <a:ext cx="3108960" cy="4114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41414"/>
                </a:solidFill>
                <a:latin typeface="Aptos"/>
              </a:rPr>
              <a:t>SEMI-STRUCTURED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3401"/>
            <a:ext cx="2926080" cy="55399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chemeClr val="accent6"/>
                </a:solidFill>
                <a:latin typeface="Aptos"/>
              </a:rPr>
              <a:t>Some structure, not strictly tabular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977639"/>
            <a:ext cx="2926080" cy="6400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JSON • XML • HTML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783080"/>
            <a:ext cx="3474720" cy="34290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2148840"/>
            <a:ext cx="3108960" cy="4114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41414"/>
                </a:solidFill>
                <a:latin typeface="Aptos"/>
              </a:rPr>
              <a:t>UNSTRUCTURED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038817"/>
            <a:ext cx="2926080" cy="323165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chemeClr val="accent6"/>
                </a:solidFill>
                <a:latin typeface="Aptos"/>
              </a:rPr>
              <a:t>No fixed 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977639"/>
            <a:ext cx="2926080" cy="6400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PDF • Images • Audio • Video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614080"/>
            <a:ext cx="5943600" cy="38472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900" b="1" dirty="0">
                <a:solidFill>
                  <a:schemeClr val="accent6"/>
                </a:solidFill>
                <a:latin typeface="Aptos"/>
              </a:rPr>
              <a:t>Different data → different tools.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5C5C"/>
                </a:solidFill>
                <a:latin typeface="Aptos"/>
              </a:rPr>
              <a:t>18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01168"/>
            <a:ext cx="914400" cy="411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CE1C5F-5BBF-3C81-C0C8-AC5851305A38}"/>
              </a:ext>
            </a:extLst>
          </p:cNvPr>
          <p:cNvSpPr txBox="1"/>
          <p:nvPr/>
        </p:nvSpPr>
        <p:spPr>
          <a:xfrm>
            <a:off x="594360" y="6466814"/>
            <a:ext cx="2743200" cy="21544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n-US" sz="800" b="1" dirty="0">
                <a:solidFill>
                  <a:srgbClr val="5C5C5C"/>
                </a:solidFill>
                <a:latin typeface="Aptos"/>
              </a:rPr>
              <a:t>SCOUT </a:t>
            </a:r>
            <a:r>
              <a:rPr sz="800" b="1" dirty="0">
                <a:solidFill>
                  <a:srgbClr val="5C5C5C"/>
                </a:solidFill>
                <a:latin typeface="Aptos"/>
              </a:rPr>
              <a:t>DATA </a:t>
            </a:r>
            <a:r>
              <a:rPr lang="en-US" sz="800" b="1" dirty="0">
                <a:solidFill>
                  <a:srgbClr val="5C5C5C"/>
                </a:solidFill>
                <a:latin typeface="Aptos"/>
              </a:rPr>
              <a:t> ANALYTICS  &amp; VISUALIZATION</a:t>
            </a:r>
            <a:endParaRPr sz="800" b="1" dirty="0">
              <a:solidFill>
                <a:srgbClr val="5C5C5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C5C5C"/>
                </a:solidFill>
                <a:latin typeface="Aptos"/>
              </a:rPr>
              <a:t>THE TOOL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858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ptos"/>
              </a:rPr>
              <a:t>So which tool?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8046720" cy="4572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141414"/>
                </a:solidFill>
                <a:latin typeface="Aptos"/>
              </a:rPr>
              <a:t>SCOUT Mart has 5 million transaction records.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6400800" cy="4114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000" b="1" dirty="0">
                <a:solidFill>
                  <a:schemeClr val="accent6"/>
                </a:solidFill>
                <a:latin typeface="Aptos"/>
              </a:rPr>
              <a:t>Which tool should the analyst use?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80360"/>
            <a:ext cx="3246120" cy="82296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084314"/>
            <a:ext cx="3246120" cy="369332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800" b="1" dirty="0">
                <a:solidFill>
                  <a:schemeClr val="bg1"/>
                </a:solidFill>
                <a:latin typeface="Aptos"/>
              </a:rPr>
              <a:t>Excel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880360"/>
            <a:ext cx="3246120" cy="82296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3084314"/>
            <a:ext cx="3246120" cy="369332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800" b="1" dirty="0">
                <a:solidFill>
                  <a:schemeClr val="bg1"/>
                </a:solidFill>
                <a:latin typeface="Aptos"/>
              </a:rPr>
              <a:t>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880360"/>
            <a:ext cx="3246120" cy="82296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3084314"/>
            <a:ext cx="3246120" cy="369332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800" b="1" dirty="0">
                <a:solidFill>
                  <a:schemeClr val="bg1"/>
                </a:solidFill>
                <a:latin typeface="Aptos"/>
              </a:rPr>
              <a:t>Python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3246120" cy="82296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318754"/>
            <a:ext cx="3246120" cy="369332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800" b="1" dirty="0">
                <a:solidFill>
                  <a:schemeClr val="bg1"/>
                </a:solidFill>
                <a:latin typeface="Aptos"/>
              </a:rPr>
              <a:t>Power BI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4114800"/>
            <a:ext cx="3246120" cy="82296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4318754"/>
            <a:ext cx="3246120" cy="369332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800" b="1" dirty="0">
                <a:solidFill>
                  <a:schemeClr val="bg1"/>
                </a:solidFill>
                <a:latin typeface="Aptos"/>
              </a:rPr>
              <a:t>SPSS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4114800"/>
            <a:ext cx="3246120" cy="82296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0" y="4318754"/>
            <a:ext cx="3246120" cy="369332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800" b="1" dirty="0">
                <a:solidFill>
                  <a:schemeClr val="bg1"/>
                </a:solidFill>
                <a:latin typeface="Aptos"/>
              </a:rPr>
              <a:t>Tableau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77840"/>
            <a:ext cx="6400800" cy="4114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chemeClr val="accent6"/>
                </a:solidFill>
                <a:latin typeface="Aptos"/>
              </a:rPr>
              <a:t>The answer depends on the problem.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5C5C"/>
                </a:solidFill>
                <a:latin typeface="Aptos"/>
              </a:rPr>
              <a:t>19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201168"/>
            <a:ext cx="914400" cy="411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6CC60C-677F-33B3-E56D-F0DB3BFDC9B0}"/>
              </a:ext>
            </a:extLst>
          </p:cNvPr>
          <p:cNvSpPr txBox="1"/>
          <p:nvPr/>
        </p:nvSpPr>
        <p:spPr>
          <a:xfrm>
            <a:off x="594360" y="6466814"/>
            <a:ext cx="2743200" cy="21544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n-US" sz="800" b="1" dirty="0">
                <a:solidFill>
                  <a:srgbClr val="5C5C5C"/>
                </a:solidFill>
                <a:latin typeface="Aptos"/>
              </a:rPr>
              <a:t>SCOUT </a:t>
            </a:r>
            <a:r>
              <a:rPr sz="800" b="1" dirty="0">
                <a:solidFill>
                  <a:srgbClr val="5C5C5C"/>
                </a:solidFill>
                <a:latin typeface="Aptos"/>
              </a:rPr>
              <a:t>DATA </a:t>
            </a:r>
            <a:r>
              <a:rPr lang="en-US" sz="800" b="1" dirty="0">
                <a:solidFill>
                  <a:srgbClr val="5C5C5C"/>
                </a:solidFill>
                <a:latin typeface="Aptos"/>
              </a:rPr>
              <a:t> ANALYTICS  &amp; VISUALIZATION</a:t>
            </a:r>
            <a:endParaRPr sz="800" b="1" dirty="0">
              <a:solidFill>
                <a:srgbClr val="5C5C5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C5C5C"/>
                </a:solidFill>
                <a:latin typeface="Aptos"/>
              </a:rPr>
              <a:t>TOOLS BY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858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ptos"/>
              </a:rPr>
              <a:t>The analyst's toolbox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337560" cy="132588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306324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SPREADSHEETS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82706"/>
            <a:ext cx="3063240" cy="29238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chemeClr val="accent6"/>
                </a:solidFill>
                <a:latin typeface="Aptos"/>
              </a:rPr>
              <a:t>Excel • Google Sheets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337560" cy="132588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965960"/>
            <a:ext cx="306324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DATABASE QUERYING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82706"/>
            <a:ext cx="3063240" cy="29238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chemeClr val="accent6"/>
                </a:solidFill>
                <a:latin typeface="Aptos"/>
              </a:rPr>
              <a:t>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737360"/>
            <a:ext cx="3337560" cy="132588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60" y="1965960"/>
            <a:ext cx="306324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PROGRAMMING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482706"/>
            <a:ext cx="3063240" cy="29238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chemeClr val="accent6"/>
                </a:solidFill>
                <a:latin typeface="Aptos"/>
              </a:rPr>
              <a:t>Python • 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3337560" cy="132588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703320"/>
            <a:ext cx="306324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VISUALIZATION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20066"/>
            <a:ext cx="3063240" cy="29238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chemeClr val="accent6"/>
                </a:solidFill>
                <a:latin typeface="Aptos"/>
              </a:rPr>
              <a:t>Power BI • Tableau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474720"/>
            <a:ext cx="3337560" cy="132588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3703320"/>
            <a:ext cx="306324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STATISTICS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220066"/>
            <a:ext cx="3063240" cy="29238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chemeClr val="accent6"/>
                </a:solidFill>
                <a:latin typeface="Aptos"/>
              </a:rPr>
              <a:t>SPSS • R • Python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440680"/>
            <a:ext cx="8046720" cy="6858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41414"/>
                </a:solidFill>
                <a:latin typeface="Aptos"/>
              </a:rPr>
              <a:t>You don't need every tool.
You need to understand the job each tool helps you 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5C5C"/>
                </a:solidFill>
                <a:latin typeface="Aptos"/>
              </a:rPr>
              <a:t>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01168"/>
            <a:ext cx="914400" cy="411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58A06D-247A-2C96-2DCE-2E60263538FC}"/>
              </a:ext>
            </a:extLst>
          </p:cNvPr>
          <p:cNvSpPr txBox="1"/>
          <p:nvPr/>
        </p:nvSpPr>
        <p:spPr>
          <a:xfrm>
            <a:off x="594360" y="6466814"/>
            <a:ext cx="2743200" cy="21544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n-US" sz="800" b="1" dirty="0">
                <a:solidFill>
                  <a:srgbClr val="5C5C5C"/>
                </a:solidFill>
                <a:latin typeface="Aptos"/>
              </a:rPr>
              <a:t>SCOUT </a:t>
            </a:r>
            <a:r>
              <a:rPr sz="800" b="1" dirty="0">
                <a:solidFill>
                  <a:srgbClr val="5C5C5C"/>
                </a:solidFill>
                <a:latin typeface="Aptos"/>
              </a:rPr>
              <a:t>DATA </a:t>
            </a:r>
            <a:r>
              <a:rPr lang="en-US" sz="800" b="1" dirty="0">
                <a:solidFill>
                  <a:srgbClr val="5C5C5C"/>
                </a:solidFill>
                <a:latin typeface="Aptos"/>
              </a:rPr>
              <a:t> ANALYTICS  &amp; VISUALIZATION</a:t>
            </a:r>
            <a:endParaRPr sz="800" b="1" dirty="0">
              <a:solidFill>
                <a:srgbClr val="5C5C5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C5C5C"/>
                </a:solidFill>
                <a:latin typeface="Aptos"/>
              </a:rPr>
              <a:t>THE ANALYST MINDSET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858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ptos"/>
              </a:rPr>
              <a:t>Tools aren't enough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7132320" cy="13258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141414"/>
                </a:solidFill>
                <a:latin typeface="Aptos"/>
              </a:rPr>
              <a:t>YOU CAN KNOW THE TOOL
AND STILL GET THE ANALYSIS WRONG.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508760"/>
            <a:ext cx="178308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35240" y="1517904"/>
            <a:ext cx="178308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41414"/>
                </a:solidFill>
                <a:latin typeface="Aptos"/>
              </a:rPr>
              <a:t>Critical thinking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1508760"/>
            <a:ext cx="178308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0" y="1517904"/>
            <a:ext cx="178308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41414"/>
                </a:solidFill>
                <a:latin typeface="Aptos"/>
              </a:rPr>
              <a:t>Problem solving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423160"/>
            <a:ext cx="178308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35240" y="2432303"/>
            <a:ext cx="178308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41414"/>
                </a:solidFill>
                <a:latin typeface="Aptos"/>
              </a:rPr>
              <a:t>Attention to detail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2423160"/>
            <a:ext cx="178308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0" y="2432303"/>
            <a:ext cx="178308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41414"/>
                </a:solidFill>
                <a:latin typeface="Aptos"/>
              </a:rPr>
              <a:t>Communication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337560"/>
            <a:ext cx="178308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35240" y="3346703"/>
            <a:ext cx="178308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41414"/>
                </a:solidFill>
                <a:latin typeface="Aptos"/>
              </a:rPr>
              <a:t>Curiosity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3337560"/>
            <a:ext cx="178308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0" y="3346703"/>
            <a:ext cx="178308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41414"/>
                </a:solidFill>
                <a:latin typeface="Aptos"/>
              </a:rPr>
              <a:t>Domain knowledge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178308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35240" y="4261104"/>
            <a:ext cx="178308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41414"/>
                </a:solidFill>
                <a:latin typeface="Aptos"/>
              </a:rPr>
              <a:t>Storytelling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63330"/>
            <a:ext cx="7589520" cy="800219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300" b="1" dirty="0">
                <a:solidFill>
                  <a:schemeClr val="accent6"/>
                </a:solidFill>
                <a:latin typeface="Aptos"/>
              </a:rPr>
              <a:t>A tool can calculate.
An analyst has to decide what is worth calculating.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5C5C"/>
                </a:solidFill>
                <a:latin typeface="Aptos"/>
              </a:rPr>
              <a:t>21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01168"/>
            <a:ext cx="914400" cy="411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99E0C5-0548-E938-726F-D13D7FB1A937}"/>
              </a:ext>
            </a:extLst>
          </p:cNvPr>
          <p:cNvSpPr txBox="1"/>
          <p:nvPr/>
        </p:nvSpPr>
        <p:spPr>
          <a:xfrm>
            <a:off x="594360" y="6466814"/>
            <a:ext cx="2743200" cy="21544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n-US" sz="800" b="1" dirty="0">
                <a:solidFill>
                  <a:srgbClr val="5C5C5C"/>
                </a:solidFill>
                <a:latin typeface="Aptos"/>
              </a:rPr>
              <a:t>SCOUT </a:t>
            </a:r>
            <a:r>
              <a:rPr sz="800" b="1" dirty="0">
                <a:solidFill>
                  <a:srgbClr val="5C5C5C"/>
                </a:solidFill>
                <a:latin typeface="Aptos"/>
              </a:rPr>
              <a:t>DATA </a:t>
            </a:r>
            <a:r>
              <a:rPr lang="en-US" sz="800" b="1" dirty="0">
                <a:solidFill>
                  <a:srgbClr val="5C5C5C"/>
                </a:solidFill>
                <a:latin typeface="Aptos"/>
              </a:rPr>
              <a:t> ANALYTICS  &amp; VISUALIZATION</a:t>
            </a:r>
            <a:endParaRPr sz="800" b="1" dirty="0">
              <a:solidFill>
                <a:srgbClr val="5C5C5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C5C5C"/>
                </a:solidFill>
                <a:latin typeface="Aptos"/>
              </a:rPr>
              <a:t>BASIC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858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ptos"/>
              </a:rPr>
              <a:t>SCOUT Mart's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82880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5C5C5C"/>
                </a:solidFill>
                <a:latin typeface="Aptos"/>
              </a:rPr>
              <a:t>Customer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1600200"/>
            <a:ext cx="182880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5C5C5C"/>
                </a:solidFill>
                <a:latin typeface="Aptos"/>
              </a:rPr>
              <a:t>Amount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2103120" cy="438912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926080" y="2057400"/>
            <a:ext cx="2103120" cy="438912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121518"/>
            <a:ext cx="2103120" cy="29238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chemeClr val="bg1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121518"/>
            <a:ext cx="2103120" cy="29238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chemeClr val="bg1"/>
                </a:solidFill>
                <a:latin typeface="Aptos"/>
              </a:rPr>
              <a:t>₦10,000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624328"/>
            <a:ext cx="2103120" cy="438912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926080" y="2624328"/>
            <a:ext cx="2103120" cy="438912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688446"/>
            <a:ext cx="2103120" cy="29238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chemeClr val="bg1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688446"/>
            <a:ext cx="2103120" cy="29238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chemeClr val="bg1"/>
                </a:solidFill>
                <a:latin typeface="Aptos"/>
              </a:rPr>
              <a:t>₦15,000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191256"/>
            <a:ext cx="2103120" cy="438912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926080" y="3191256"/>
            <a:ext cx="2103120" cy="438912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255374"/>
            <a:ext cx="2103120" cy="29238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chemeClr val="bg1"/>
                </a:solidFill>
                <a:latin typeface="Aptos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255374"/>
            <a:ext cx="2103120" cy="29238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chemeClr val="bg1"/>
                </a:solidFill>
                <a:latin typeface="Aptos"/>
              </a:rPr>
              <a:t>₦20,000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758183"/>
            <a:ext cx="2103120" cy="438912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926080" y="3758183"/>
            <a:ext cx="2103120" cy="438912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240" y="3822301"/>
            <a:ext cx="2103120" cy="29238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chemeClr val="bg1"/>
                </a:solidFill>
                <a:latin typeface="Aptos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831335"/>
            <a:ext cx="210312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₦20,000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325112"/>
            <a:ext cx="2103120" cy="438912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926080" y="4325112"/>
            <a:ext cx="2103120" cy="438912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4389230"/>
            <a:ext cx="2103120" cy="29238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chemeClr val="bg1"/>
                </a:solidFill>
                <a:latin typeface="Aptos"/>
              </a:rPr>
              <a:t>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389230"/>
            <a:ext cx="2103120" cy="29238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chemeClr val="bg1"/>
                </a:solidFill>
                <a:latin typeface="Aptos"/>
              </a:rPr>
              <a:t>₦35,000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1965960"/>
            <a:ext cx="5029200" cy="4572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300" b="1" dirty="0">
                <a:solidFill>
                  <a:schemeClr val="accent6"/>
                </a:solidFill>
                <a:latin typeface="Aptos"/>
              </a:rPr>
              <a:t>What can we learn from this?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2697480"/>
            <a:ext cx="2240280" cy="384048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35040" y="2749555"/>
            <a:ext cx="2240280" cy="26161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chemeClr val="bg1"/>
                </a:solidFill>
                <a:latin typeface="Aptos"/>
              </a:rPr>
              <a:t>Mean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3264408"/>
            <a:ext cx="2240280" cy="384048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35040" y="3316483"/>
            <a:ext cx="2240280" cy="26161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chemeClr val="bg1"/>
                </a:solidFill>
                <a:latin typeface="Aptos"/>
              </a:rPr>
              <a:t>Median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0" y="3831336"/>
            <a:ext cx="2240280" cy="384048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35040" y="3883411"/>
            <a:ext cx="2240280" cy="26161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chemeClr val="bg1"/>
                </a:solidFill>
                <a:latin typeface="Aptos"/>
              </a:rPr>
              <a:t>Mode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0" y="4398264"/>
            <a:ext cx="2240280" cy="384048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35040" y="4450339"/>
            <a:ext cx="2240280" cy="26161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chemeClr val="bg1"/>
                </a:solidFill>
                <a:latin typeface="Aptos"/>
              </a:rPr>
              <a:t>Standard deviation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4965192"/>
            <a:ext cx="2240280" cy="384048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35040" y="5017267"/>
            <a:ext cx="2240280" cy="26161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chemeClr val="bg1"/>
                </a:solidFill>
                <a:latin typeface="Aptos"/>
              </a:rPr>
              <a:t>Cross-tabulation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5486400"/>
            <a:ext cx="4754880" cy="6400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41414"/>
                </a:solidFill>
                <a:latin typeface="Aptos"/>
              </a:rPr>
              <a:t>The goal is not just to calculate.
The goal is to understand.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5C5C"/>
                </a:solidFill>
                <a:latin typeface="Aptos"/>
              </a:rPr>
              <a:t>22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201168"/>
            <a:ext cx="914400" cy="411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E8C2B31-DD6E-D4FB-EA96-B6390F4D3402}"/>
              </a:ext>
            </a:extLst>
          </p:cNvPr>
          <p:cNvSpPr txBox="1"/>
          <p:nvPr/>
        </p:nvSpPr>
        <p:spPr>
          <a:xfrm>
            <a:off x="594360" y="6466814"/>
            <a:ext cx="2743200" cy="21544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n-US" sz="800" b="1" dirty="0">
                <a:solidFill>
                  <a:srgbClr val="5C5C5C"/>
                </a:solidFill>
                <a:latin typeface="Aptos"/>
              </a:rPr>
              <a:t>SCOUT </a:t>
            </a:r>
            <a:r>
              <a:rPr sz="800" b="1" dirty="0">
                <a:solidFill>
                  <a:srgbClr val="5C5C5C"/>
                </a:solidFill>
                <a:latin typeface="Aptos"/>
              </a:rPr>
              <a:t>DATA </a:t>
            </a:r>
            <a:r>
              <a:rPr lang="en-US" sz="800" b="1" dirty="0">
                <a:solidFill>
                  <a:srgbClr val="5C5C5C"/>
                </a:solidFill>
                <a:latin typeface="Aptos"/>
              </a:rPr>
              <a:t> ANALYTICS  &amp; VISUALIZATION</a:t>
            </a:r>
            <a:endParaRPr sz="800" b="1" dirty="0">
              <a:solidFill>
                <a:srgbClr val="5C5C5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C5C5C"/>
                </a:solidFill>
                <a:latin typeface="Aptos"/>
              </a:rPr>
              <a:t>WHY THE NUMBERS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858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ptos"/>
              </a:rPr>
              <a:t>From question to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6126480" cy="4114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41414"/>
                </a:solidFill>
                <a:latin typeface="Aptos"/>
              </a:rPr>
              <a:t>What is the average amount spent?</a:t>
            </a:r>
          </a:p>
        </p:txBody>
      </p:sp>
      <p:sp>
        <p:nvSpPr>
          <p:cNvPr id="6" name="Right Arrow 5"/>
          <p:cNvSpPr/>
          <p:nvPr/>
        </p:nvSpPr>
        <p:spPr>
          <a:xfrm>
            <a:off x="6995160" y="1691640"/>
            <a:ext cx="502920" cy="256032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26679" y="1581912"/>
            <a:ext cx="246888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26679" y="1591056"/>
            <a:ext cx="246888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MEAN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6126480" cy="4114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41414"/>
                </a:solidFill>
                <a:latin typeface="Aptos"/>
              </a:rPr>
              <a:t>What is the typical spending level?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95160" y="2788920"/>
            <a:ext cx="502920" cy="256032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7726679" y="2679192"/>
            <a:ext cx="246888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26679" y="2688336"/>
            <a:ext cx="246888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MEDIAN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94760"/>
            <a:ext cx="6126480" cy="4114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41414"/>
                </a:solidFill>
                <a:latin typeface="Aptos"/>
              </a:rPr>
              <a:t>What amount occurs most often?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995160" y="3886200"/>
            <a:ext cx="502920" cy="256032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726679" y="3776472"/>
            <a:ext cx="246888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26679" y="3785616"/>
            <a:ext cx="246888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92040"/>
            <a:ext cx="6126480" cy="4114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41414"/>
                </a:solidFill>
                <a:latin typeface="Aptos"/>
              </a:rPr>
              <a:t>How spread out are purchases?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995160" y="4983479"/>
            <a:ext cx="502920" cy="256032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726679" y="4873752"/>
            <a:ext cx="246888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26679" y="4882896"/>
            <a:ext cx="246888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STANDARD DEVIATION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36939"/>
            <a:ext cx="7772400" cy="38472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900" b="1" dirty="0">
                <a:solidFill>
                  <a:schemeClr val="accent6"/>
                </a:solidFill>
                <a:latin typeface="Aptos"/>
              </a:rPr>
              <a:t>A statistic becomes useful when it answers a question.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5C5C"/>
                </a:solidFill>
                <a:latin typeface="Aptos"/>
              </a:rPr>
              <a:t>23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01168"/>
            <a:ext cx="914400" cy="411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A76F6A-4D8E-F3E7-F0DA-3239A442461C}"/>
              </a:ext>
            </a:extLst>
          </p:cNvPr>
          <p:cNvSpPr txBox="1"/>
          <p:nvPr/>
        </p:nvSpPr>
        <p:spPr>
          <a:xfrm>
            <a:off x="594360" y="6466814"/>
            <a:ext cx="2743200" cy="21544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n-US" sz="800" b="1" dirty="0">
                <a:solidFill>
                  <a:srgbClr val="5C5C5C"/>
                </a:solidFill>
                <a:latin typeface="Aptos"/>
              </a:rPr>
              <a:t>SCOUT </a:t>
            </a:r>
            <a:r>
              <a:rPr sz="800" b="1" dirty="0">
                <a:solidFill>
                  <a:srgbClr val="5C5C5C"/>
                </a:solidFill>
                <a:latin typeface="Aptos"/>
              </a:rPr>
              <a:t>DATA </a:t>
            </a:r>
            <a:r>
              <a:rPr lang="en-US" sz="800" b="1" dirty="0">
                <a:solidFill>
                  <a:srgbClr val="5C5C5C"/>
                </a:solidFill>
                <a:latin typeface="Aptos"/>
              </a:rPr>
              <a:t> ANALYTICS  &amp; VISUALIZATION</a:t>
            </a:r>
            <a:endParaRPr sz="800" b="1" dirty="0">
              <a:solidFill>
                <a:srgbClr val="5C5C5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1414"/>
                </a:solidFill>
                <a:latin typeface="Aptos"/>
              </a:rPr>
              <a:t>Meet the tools — and know what they are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5C5C5C"/>
                </a:solidFill>
                <a:latin typeface="Aptos"/>
              </a:rPr>
              <a:t>The right tool depends on the task, data, scale and constraints.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2514600" cy="118872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" y="2221992"/>
            <a:ext cx="530352" cy="530352"/>
          </a:xfrm>
          <a:prstGeom prst="ellipse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2221992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Aptos"/>
              </a:rPr>
              <a:t>Excel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87752"/>
            <a:ext cx="1508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Aptos"/>
              </a:rPr>
              <a:t>Explore, calculate, organise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057400"/>
            <a:ext cx="2514600" cy="118872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611879" y="2221992"/>
            <a:ext cx="530352" cy="530352"/>
          </a:xfrm>
          <a:prstGeom prst="ellipse">
            <a:avLst/>
          </a:prstGeom>
          <a:solidFill>
            <a:srgbClr val="41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51959" y="2221992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Aptos"/>
              </a:rPr>
              <a:t>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59" y="2587752"/>
            <a:ext cx="1508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Aptos"/>
              </a:rPr>
              <a:t>Query structured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057400"/>
            <a:ext cx="2514600" cy="118872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92240" y="2221992"/>
            <a:ext cx="530352" cy="530352"/>
          </a:xfrm>
          <a:prstGeom prst="ellipse">
            <a:avLst/>
          </a:prstGeom>
          <a:solidFill>
            <a:srgbClr val="EB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0" y="2221992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Apto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587752"/>
            <a:ext cx="1508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Aptos"/>
              </a:rPr>
              <a:t>Automate and 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057400"/>
            <a:ext cx="2514600" cy="118872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372600" y="2221992"/>
            <a:ext cx="530352" cy="530352"/>
          </a:xfrm>
          <a:prstGeom prst="ellipse">
            <a:avLst/>
          </a:prstGeom>
          <a:solidFill>
            <a:srgbClr val="785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12680" y="2221992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Aptos"/>
              </a:rPr>
              <a:t>Power BI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2587752"/>
            <a:ext cx="1508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Aptos"/>
              </a:rPr>
              <a:t>Build interactive reports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657600"/>
            <a:ext cx="2514600" cy="118872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31520" y="3822191"/>
            <a:ext cx="530352" cy="530352"/>
          </a:xfrm>
          <a:prstGeom prst="ellipse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71600" y="3822191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Aptos"/>
              </a:rPr>
              <a:t>Pandas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187952"/>
            <a:ext cx="1508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Aptos"/>
              </a:rPr>
              <a:t>Work with tabular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3657600"/>
            <a:ext cx="2514600" cy="118872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611879" y="3822191"/>
            <a:ext cx="530352" cy="530352"/>
          </a:xfrm>
          <a:prstGeom prst="ellipse">
            <a:avLst/>
          </a:prstGeom>
          <a:solidFill>
            <a:srgbClr val="41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51959" y="3822191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Aptos"/>
              </a:rPr>
              <a:t>Matplotlib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59" y="4187952"/>
            <a:ext cx="1508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Aptos"/>
              </a:rPr>
              <a:t>Create visualisations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657600"/>
            <a:ext cx="2514600" cy="118872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492240" y="3822191"/>
            <a:ext cx="530352" cy="530352"/>
          </a:xfrm>
          <a:prstGeom prst="ellipse">
            <a:avLst/>
          </a:prstGeom>
          <a:solidFill>
            <a:srgbClr val="EB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20" y="3822191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Aptos"/>
              </a:rPr>
              <a:t>SPSS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187952"/>
            <a:ext cx="1508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Aptos"/>
              </a:rPr>
              <a:t>Statistical analysis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3657600"/>
            <a:ext cx="2514600" cy="118872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372600" y="3822191"/>
            <a:ext cx="530352" cy="530352"/>
          </a:xfrm>
          <a:prstGeom prst="ellipse">
            <a:avLst/>
          </a:prstGeom>
          <a:solidFill>
            <a:srgbClr val="785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12680" y="3822191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Aptos"/>
              </a:rPr>
              <a:t>Tableau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4187952"/>
            <a:ext cx="1508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Aptos"/>
              </a:rPr>
              <a:t>Explore and present 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715000"/>
            <a:ext cx="9875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dirty="0">
                <a:solidFill>
                  <a:schemeClr val="accent6"/>
                </a:solidFill>
                <a:latin typeface="Aptos"/>
              </a:rPr>
              <a:t>You do not need every tool. You need to know why you would choose one.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FA0420-EC14-C82D-230B-F7E10358CF2A}"/>
              </a:ext>
            </a:extLst>
          </p:cNvPr>
          <p:cNvSpPr txBox="1"/>
          <p:nvPr/>
        </p:nvSpPr>
        <p:spPr>
          <a:xfrm>
            <a:off x="594360" y="6466814"/>
            <a:ext cx="2743200" cy="21544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n-US" sz="800" b="1" dirty="0">
                <a:solidFill>
                  <a:srgbClr val="5C5C5C"/>
                </a:solidFill>
                <a:latin typeface="Aptos"/>
              </a:rPr>
              <a:t>3MTT </a:t>
            </a:r>
            <a:r>
              <a:rPr sz="800" b="1" dirty="0">
                <a:solidFill>
                  <a:srgbClr val="5C5C5C"/>
                </a:solidFill>
                <a:latin typeface="Aptos"/>
              </a:rPr>
              <a:t>DATA </a:t>
            </a:r>
            <a:r>
              <a:rPr lang="en-US" sz="800" b="1" dirty="0">
                <a:solidFill>
                  <a:srgbClr val="5C5C5C"/>
                </a:solidFill>
                <a:latin typeface="Aptos"/>
              </a:rPr>
              <a:t> ANALYTICS  &amp; VISUALIZATION</a:t>
            </a:r>
            <a:endParaRPr sz="800" b="1" dirty="0">
              <a:solidFill>
                <a:srgbClr val="5C5C5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C5C5C"/>
                </a:solidFill>
                <a:latin typeface="Aptos"/>
              </a:rPr>
              <a:t>LET'S OPEN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858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ptos"/>
              </a:rPr>
              <a:t>One tool. One dataset. Real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657600" cy="36576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Aptos"/>
              </a:rPr>
              <a:t>SCOUT Mart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40" y="1508760"/>
            <a:ext cx="118872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903720" y="1508760"/>
            <a:ext cx="1188720" cy="5029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0" y="1508760"/>
            <a:ext cx="118872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555480" y="1508760"/>
            <a:ext cx="1188720" cy="5029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577840" y="2167128"/>
            <a:ext cx="1188720" cy="5029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903720" y="2167128"/>
            <a:ext cx="118872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2167128"/>
            <a:ext cx="1188720" cy="5029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555480" y="2167128"/>
            <a:ext cx="118872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577840" y="2825496"/>
            <a:ext cx="118872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903720" y="2825496"/>
            <a:ext cx="1188720" cy="5029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2825496"/>
            <a:ext cx="118872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555480" y="2825496"/>
            <a:ext cx="1188720" cy="5029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577840" y="3483864"/>
            <a:ext cx="1188720" cy="5029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903720" y="3483864"/>
            <a:ext cx="118872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0" y="3483864"/>
            <a:ext cx="1188720" cy="5029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555480" y="3483864"/>
            <a:ext cx="118872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577840" y="4142231"/>
            <a:ext cx="118872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903720" y="4142231"/>
            <a:ext cx="1188720" cy="5029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29600" y="4142231"/>
            <a:ext cx="118872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55480" y="4142231"/>
            <a:ext cx="1188720" cy="5029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77840" y="1618822"/>
            <a:ext cx="1188720" cy="24622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chemeClr val="bg1"/>
                </a:solidFill>
                <a:latin typeface="Aptos"/>
              </a:rPr>
              <a:t>Customer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1627632"/>
            <a:ext cx="1188720" cy="2286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Store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618822"/>
            <a:ext cx="1188720" cy="24622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chemeClr val="bg1"/>
                </a:solidFill>
                <a:latin typeface="Aptos"/>
              </a:rPr>
              <a:t>Amount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1627632"/>
            <a:ext cx="1188720" cy="2286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Category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2286000"/>
            <a:ext cx="1188720" cy="20116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2286000"/>
            <a:ext cx="1188720" cy="20116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East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286000"/>
            <a:ext cx="1188720" cy="20116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10000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55480" y="2286000"/>
            <a:ext cx="1188720" cy="20116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Food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2944368"/>
            <a:ext cx="1188720" cy="20116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2944368"/>
            <a:ext cx="1188720" cy="20116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West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944368"/>
            <a:ext cx="1188720" cy="20116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15000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2944368"/>
            <a:ext cx="1188720" cy="20116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Fashion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3602736"/>
            <a:ext cx="1188720" cy="20116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602736"/>
            <a:ext cx="1188720" cy="20116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East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602736"/>
            <a:ext cx="1188720" cy="20116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20000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3602736"/>
            <a:ext cx="1188720" cy="20116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Food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4261104"/>
            <a:ext cx="1188720" cy="20116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4261104"/>
            <a:ext cx="1188720" cy="20116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North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4261104"/>
            <a:ext cx="1188720" cy="20116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20000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55480" y="4261104"/>
            <a:ext cx="1188720" cy="20116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Electronics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2864077"/>
            <a:ext cx="242316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Mean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3431005"/>
            <a:ext cx="242316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Median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3997934"/>
            <a:ext cx="242316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Mode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" y="4032504"/>
            <a:ext cx="242316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77240" y="4041648"/>
            <a:ext cx="242316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141414"/>
                </a:solidFill>
                <a:latin typeface="Aptos"/>
              </a:rPr>
              <a:t>Standard deviation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7240" y="4599431"/>
            <a:ext cx="242316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77240" y="4608575"/>
            <a:ext cx="242316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Cross-tabulations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" y="5440680"/>
            <a:ext cx="4114800" cy="6858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5C5C5C"/>
                </a:solidFill>
                <a:latin typeface="Aptos"/>
              </a:rPr>
              <a:t>First platform: Excel
Second platform: we compare.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5C5C"/>
                </a:solidFill>
                <a:latin typeface="Aptos"/>
              </a:rPr>
              <a:t>24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" y="201168"/>
            <a:ext cx="914400" cy="411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E652B9F-0769-6D16-3E13-0086458CC67F}"/>
              </a:ext>
            </a:extLst>
          </p:cNvPr>
          <p:cNvSpPr txBox="1"/>
          <p:nvPr/>
        </p:nvSpPr>
        <p:spPr>
          <a:xfrm>
            <a:off x="594360" y="6466814"/>
            <a:ext cx="2743200" cy="21544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n-US" sz="800" b="1" dirty="0">
                <a:solidFill>
                  <a:srgbClr val="5C5C5C"/>
                </a:solidFill>
                <a:latin typeface="Aptos"/>
              </a:rPr>
              <a:t>SCOUT  </a:t>
            </a:r>
            <a:r>
              <a:rPr sz="800" b="1" dirty="0">
                <a:solidFill>
                  <a:srgbClr val="5C5C5C"/>
                </a:solidFill>
                <a:latin typeface="Aptos"/>
              </a:rPr>
              <a:t>DATA </a:t>
            </a:r>
            <a:r>
              <a:rPr lang="en-US" sz="800" b="1" dirty="0">
                <a:solidFill>
                  <a:srgbClr val="5C5C5C"/>
                </a:solidFill>
                <a:latin typeface="Aptos"/>
              </a:rPr>
              <a:t> ANALYTICS  &amp; VISUALIZATION</a:t>
            </a:r>
            <a:endParaRPr sz="800" b="1" dirty="0">
              <a:solidFill>
                <a:srgbClr val="5C5C5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C5C5C"/>
                </a:solidFill>
                <a:latin typeface="Aptos"/>
              </a:rPr>
              <a:t>SCOUT MART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858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ptos"/>
              </a:rPr>
              <a:t>Your first analytics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29584"/>
            <a:ext cx="5943600" cy="61555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3400" b="1" dirty="0">
                <a:solidFill>
                  <a:schemeClr val="accent6"/>
                </a:solidFill>
                <a:latin typeface="Aptos"/>
              </a:rPr>
              <a:t>SALES HAVE FALLEN.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2743200" cy="36576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Aptos"/>
              </a:rPr>
              <a:t>Your mission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41148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798063"/>
            <a:ext cx="41148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79776"/>
            <a:ext cx="5852160" cy="36576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Aptos"/>
              </a:rPr>
              <a:t>Identify the questions you need to answer.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55848"/>
            <a:ext cx="41148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364991"/>
            <a:ext cx="41148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346704"/>
            <a:ext cx="5852160" cy="36576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Aptos"/>
              </a:rPr>
              <a:t>Identify the data you need.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22776"/>
            <a:ext cx="41148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41148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913632"/>
            <a:ext cx="5852160" cy="36576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Aptos"/>
              </a:rPr>
              <a:t>Choose an appropriate tool.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89704"/>
            <a:ext cx="41148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498848"/>
            <a:ext cx="41148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480560"/>
            <a:ext cx="5852160" cy="36576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Aptos"/>
              </a:rPr>
              <a:t>Perform basic analysis.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56631"/>
            <a:ext cx="411480" cy="384048"/>
          </a:xfrm>
          <a:prstGeom prst="roundRect">
            <a:avLst/>
          </a:prstGeom>
          <a:solidFill>
            <a:srgbClr val="A6C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065775"/>
            <a:ext cx="411480" cy="3474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047488"/>
            <a:ext cx="5852160" cy="36576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Aptos"/>
              </a:rPr>
              <a:t>Explain what you found.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423160"/>
            <a:ext cx="3886200" cy="1417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41414"/>
                </a:solidFill>
                <a:latin typeface="Aptos"/>
              </a:rPr>
              <a:t>DON'T JUST GIVE US THE NUMBER.
TELL US WHAT IT MEANS.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5C5C"/>
                </a:solidFill>
                <a:latin typeface="Aptos"/>
              </a:rPr>
              <a:t>25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01168"/>
            <a:ext cx="914400" cy="411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3529C2-CFC6-1D25-B1CC-21DF84A0E9E6}"/>
              </a:ext>
            </a:extLst>
          </p:cNvPr>
          <p:cNvSpPr txBox="1"/>
          <p:nvPr/>
        </p:nvSpPr>
        <p:spPr>
          <a:xfrm>
            <a:off x="594360" y="6466814"/>
            <a:ext cx="2743200" cy="21544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n-US" sz="800" b="1" dirty="0">
                <a:solidFill>
                  <a:srgbClr val="5C5C5C"/>
                </a:solidFill>
                <a:latin typeface="Aptos"/>
              </a:rPr>
              <a:t>SCOUT </a:t>
            </a:r>
            <a:r>
              <a:rPr sz="800" b="1" dirty="0">
                <a:solidFill>
                  <a:srgbClr val="5C5C5C"/>
                </a:solidFill>
                <a:latin typeface="Aptos"/>
              </a:rPr>
              <a:t>DATA </a:t>
            </a:r>
            <a:r>
              <a:rPr lang="en-US" sz="800" b="1" dirty="0">
                <a:solidFill>
                  <a:srgbClr val="5C5C5C"/>
                </a:solidFill>
                <a:latin typeface="Aptos"/>
              </a:rPr>
              <a:t> ANALYTICS  &amp; VISUALIZATION</a:t>
            </a:r>
            <a:endParaRPr sz="800" b="1" dirty="0">
              <a:solidFill>
                <a:srgbClr val="5C5C5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C5C5C"/>
                </a:solidFill>
                <a:latin typeface="Aptos"/>
              </a:rPr>
              <a:t>THE SCOUT ANALYTICS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858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ptos"/>
              </a:rPr>
              <a:t>Where we are going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31720"/>
            <a:ext cx="1234440" cy="658368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501217"/>
            <a:ext cx="1143000" cy="24622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chemeClr val="bg1"/>
                </a:solidFill>
                <a:latin typeface="Aptos"/>
              </a:rPr>
              <a:t>ASK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764792" y="2523744"/>
            <a:ext cx="182880" cy="256032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947672" y="2331720"/>
            <a:ext cx="1234440" cy="658368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93391" y="2501217"/>
            <a:ext cx="1143000" cy="24622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chemeClr val="bg1"/>
                </a:solidFill>
                <a:latin typeface="Aptos"/>
              </a:rPr>
              <a:t>GET THE DATA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09544" y="2523744"/>
            <a:ext cx="182880" cy="256032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392424" y="2331720"/>
            <a:ext cx="1234440" cy="658368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38144" y="2501217"/>
            <a:ext cx="1143000" cy="24622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chemeClr val="bg1"/>
                </a:solidFill>
                <a:latin typeface="Aptos"/>
              </a:rPr>
              <a:t>CLEAN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654296" y="2523744"/>
            <a:ext cx="182880" cy="256032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837176" y="2331720"/>
            <a:ext cx="1234440" cy="658368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82896" y="2501217"/>
            <a:ext cx="1143000" cy="24622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chemeClr val="bg1"/>
                </a:solidFill>
                <a:latin typeface="Aptos"/>
              </a:rPr>
              <a:t>EXPLORE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99048" y="2523744"/>
            <a:ext cx="182880" cy="256032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81928" y="2331720"/>
            <a:ext cx="1234440" cy="658368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7648" y="2501217"/>
            <a:ext cx="1143000" cy="24622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chemeClr val="bg1"/>
                </a:solidFill>
                <a:latin typeface="Aptos"/>
              </a:rPr>
              <a:t>ANALYZE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543800" y="2523744"/>
            <a:ext cx="182880" cy="256032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26680" y="2331720"/>
            <a:ext cx="1234440" cy="658368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0" y="2501217"/>
            <a:ext cx="1143000" cy="24622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chemeClr val="bg1"/>
                </a:solidFill>
                <a:latin typeface="Aptos"/>
              </a:rPr>
              <a:t>VISUALIZE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988552" y="2523744"/>
            <a:ext cx="182880" cy="256032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171432" y="2331720"/>
            <a:ext cx="1234440" cy="658368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17152" y="2501217"/>
            <a:ext cx="1143000" cy="24622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chemeClr val="bg1"/>
                </a:solidFill>
                <a:latin typeface="Aptos"/>
              </a:rPr>
              <a:t>COMMUNICATE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433304" y="2523744"/>
            <a:ext cx="182880" cy="256032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616184" y="2331720"/>
            <a:ext cx="1234440" cy="658368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61904" y="2501217"/>
            <a:ext cx="1143000" cy="24622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chemeClr val="bg1"/>
                </a:solidFill>
                <a:latin typeface="Aptos"/>
              </a:rPr>
              <a:t>DECIDE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991242"/>
            <a:ext cx="1005840" cy="33855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chemeClr val="accent6"/>
                </a:solidFill>
                <a:latin typeface="Aptos"/>
              </a:rPr>
              <a:t>NEXT: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3931920"/>
            <a:ext cx="6217920" cy="4572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Aptos"/>
              </a:rPr>
              <a:t>DATA WRANGLING &amp; CLEANING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617720"/>
            <a:ext cx="7315200" cy="41148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5C5C5C"/>
                </a:solidFill>
                <a:latin typeface="Aptos"/>
              </a:rPr>
              <a:t>SCOUT Mart is about to give us messy data.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339090"/>
            <a:ext cx="5029200" cy="5232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chemeClr val="accent6"/>
                </a:solidFill>
                <a:latin typeface="Aptos"/>
              </a:rPr>
              <a:t>THE MALL IS OPEN.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5C5C"/>
                </a:solidFill>
                <a:latin typeface="Aptos"/>
              </a:rPr>
              <a:t>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01168"/>
            <a:ext cx="914400" cy="411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0D13CB-65FF-567D-4CD4-DAADD7D0AFFC}"/>
              </a:ext>
            </a:extLst>
          </p:cNvPr>
          <p:cNvSpPr txBox="1"/>
          <p:nvPr/>
        </p:nvSpPr>
        <p:spPr>
          <a:xfrm>
            <a:off x="594360" y="6466814"/>
            <a:ext cx="2743200" cy="21544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n-US" sz="800" b="1" dirty="0">
                <a:solidFill>
                  <a:srgbClr val="5C5C5C"/>
                </a:solidFill>
                <a:latin typeface="Aptos"/>
              </a:rPr>
              <a:t>SCOUT </a:t>
            </a:r>
            <a:r>
              <a:rPr sz="800" b="1" dirty="0">
                <a:solidFill>
                  <a:srgbClr val="5C5C5C"/>
                </a:solidFill>
                <a:latin typeface="Aptos"/>
              </a:rPr>
              <a:t>DATA </a:t>
            </a:r>
            <a:r>
              <a:rPr lang="en-US" sz="800" b="1" dirty="0">
                <a:solidFill>
                  <a:srgbClr val="5C5C5C"/>
                </a:solidFill>
                <a:latin typeface="Aptos"/>
              </a:rPr>
              <a:t> ANALYTICS  &amp; VISUALIZATION</a:t>
            </a:r>
            <a:endParaRPr sz="800" b="1" dirty="0">
              <a:solidFill>
                <a:srgbClr val="5C5C5C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4053</TotalTime>
  <Words>1568</Words>
  <Application>Microsoft Office PowerPoint</Application>
  <PresentationFormat>Widescreen</PresentationFormat>
  <Paragraphs>467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ALU</dc:creator>
  <cp:keywords/>
  <dc:description>generated using python-pptx</dc:description>
  <cp:lastModifiedBy>Uchechukwu Lorreta Anyika</cp:lastModifiedBy>
  <cp:revision>4</cp:revision>
  <dcterms:created xsi:type="dcterms:W3CDTF">2013-01-27T09:14:16Z</dcterms:created>
  <dcterms:modified xsi:type="dcterms:W3CDTF">2026-09-12T10:49:38Z</dcterms:modified>
  <cp:category/>
</cp:coreProperties>
</file>