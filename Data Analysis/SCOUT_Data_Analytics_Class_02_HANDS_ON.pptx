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22860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FD8B04"/>
                </a:solidFill>
                <a:latin typeface="Aptos"/>
              </a:rPr>
              <a:t>SCOUT DATA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6583680" cy="1005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400" b="1">
                <a:solidFill>
                  <a:srgbClr val="020202"/>
                </a:solidFill>
                <a:latin typeface="Aptos"/>
              </a:rPr>
              <a:t>DATA ANALYTICS
FUNDAMENTALS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14600"/>
            <a:ext cx="640080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FD8B04"/>
                </a:solidFill>
                <a:latin typeface="Aptos"/>
              </a:rPr>
              <a:t>CLASS 02 • FROM QUESTIONS TO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46120"/>
            <a:ext cx="594360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100" b="0">
                <a:solidFill>
                  <a:srgbClr val="2D2D2D"/>
                </a:solidFill>
                <a:latin typeface="Aptos"/>
              </a:rPr>
              <a:t>Today, you don't just learn what analysts do.
You will actually do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325880"/>
            <a:ext cx="1325880" cy="822960"/>
          </a:xfrm>
          <a:prstGeom prst="roundRect">
            <a:avLst/>
          </a:prstGeom>
          <a:solidFill>
            <a:srgbClr val="020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572768"/>
            <a:ext cx="13258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ASK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784080" y="1325880"/>
            <a:ext cx="1325880" cy="822960"/>
          </a:xfrm>
          <a:prstGeom prst="roundRect">
            <a:avLst/>
          </a:prstGeom>
          <a:solidFill>
            <a:srgbClr val="020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0" y="1572768"/>
            <a:ext cx="13258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CLEAN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2423160"/>
            <a:ext cx="1325880" cy="822960"/>
          </a:xfrm>
          <a:prstGeom prst="roundRect">
            <a:avLst/>
          </a:prstGeom>
          <a:solidFill>
            <a:srgbClr val="020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670048"/>
            <a:ext cx="13258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ANALYZE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84080" y="2423160"/>
            <a:ext cx="1325880" cy="822960"/>
          </a:xfrm>
          <a:prstGeom prst="roundRect">
            <a:avLst/>
          </a:prstGeom>
          <a:solidFill>
            <a:srgbClr val="020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0" y="2670048"/>
            <a:ext cx="13258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EXPLAIN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126480"/>
            <a:ext cx="45720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696969"/>
                </a:solidFill>
                <a:latin typeface="Aptos"/>
              </a:rPr>
              <a:t>SCOUT • FROM LEARNING TO PROOF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56032"/>
            <a:ext cx="2743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FD8B04"/>
                </a:solidFill>
                <a:latin typeface="Aptos"/>
              </a:rPr>
              <a:t>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1078992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020202"/>
                </a:solidFill>
                <a:latin typeface="Aptos"/>
              </a:rPr>
              <a:t>The promise of this class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07008"/>
            <a:ext cx="107899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696969"/>
                </a:solidFill>
                <a:latin typeface="Aptos"/>
              </a:rPr>
              <a:t>You should leave with a skill, not just notes.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696969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19088"/>
            <a:ext cx="5029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696969"/>
                </a:solidFill>
                <a:latin typeface="Aptos"/>
              </a:rPr>
              <a:t>SCOUT • DATA ANALYTICS &amp; VISUALIZATION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5212080" cy="1024128"/>
          </a:xfrm>
          <a:prstGeom prst="roundRect">
            <a:avLst/>
          </a:prstGeom>
          <a:solidFill>
            <a:srgbClr val="020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93392"/>
            <a:ext cx="5029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D8B04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975104"/>
            <a:ext cx="41148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487168"/>
            <a:ext cx="4700016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Turn a real-world problem into questions a dataset can answer.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828800"/>
            <a:ext cx="5212080" cy="1024128"/>
          </a:xfrm>
          <a:prstGeom prst="roundRect">
            <a:avLst/>
          </a:prstGeom>
          <a:solidFill>
            <a:srgbClr val="F0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993392"/>
            <a:ext cx="5029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020202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1975104"/>
            <a:ext cx="41148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020202"/>
                </a:solidFill>
                <a:latin typeface="Aptos"/>
              </a:rPr>
              <a:t>CLEAN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2487168"/>
            <a:ext cx="4700016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Aptos"/>
              </a:rPr>
              <a:t>Find and fix common data-quality problems in a messy dataset.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154680"/>
            <a:ext cx="5212080" cy="1024128"/>
          </a:xfrm>
          <a:prstGeom prst="roundRect">
            <a:avLst/>
          </a:prstGeom>
          <a:solidFill>
            <a:srgbClr val="020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319272"/>
            <a:ext cx="5029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D8B04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300984"/>
            <a:ext cx="41148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ANALYZE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" y="3813048"/>
            <a:ext cx="4700016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Use simple statistics to describe what is happening.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3154680"/>
            <a:ext cx="5212080" cy="1024128"/>
          </a:xfrm>
          <a:prstGeom prst="roundRect">
            <a:avLst/>
          </a:prstGeom>
          <a:solidFill>
            <a:srgbClr val="F0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3319272"/>
            <a:ext cx="5029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020202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3300984"/>
            <a:ext cx="41148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020202"/>
                </a:solidFill>
                <a:latin typeface="Aptos"/>
              </a:rPr>
              <a:t>EXPLORE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3813048"/>
            <a:ext cx="4700016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Aptos"/>
              </a:rPr>
              <a:t>Create a chart and extract an evidence-based insight.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480560"/>
            <a:ext cx="5212080" cy="1024128"/>
          </a:xfrm>
          <a:prstGeom prst="roundRect">
            <a:avLst/>
          </a:prstGeom>
          <a:solidFill>
            <a:srgbClr val="020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645152"/>
            <a:ext cx="5029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D8B04"/>
                </a:solidFill>
                <a:latin typeface="Aptos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626864"/>
            <a:ext cx="41148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THINK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" y="5138928"/>
            <a:ext cx="4700016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Separate association, causation and sampling bias.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4480560"/>
            <a:ext cx="5212080" cy="1024128"/>
          </a:xfrm>
          <a:prstGeom prst="roundRect">
            <a:avLst/>
          </a:prstGeom>
          <a:solidFill>
            <a:srgbClr val="F0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4645152"/>
            <a:ext cx="5029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020202"/>
                </a:solidFill>
                <a:latin typeface="Aptos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4626864"/>
            <a:ext cx="41148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020202"/>
                </a:solidFill>
                <a:latin typeface="Aptos"/>
              </a:rPr>
              <a:t>REPORT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65392" y="5138928"/>
            <a:ext cx="4700016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Aptos"/>
              </a:rPr>
              <a:t>Explain what the evidence supports — and what it does not.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56032"/>
            <a:ext cx="2743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FD8B04"/>
                </a:solidFill>
                <a:latin typeface="Aptos"/>
              </a:rPr>
              <a:t>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1078992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020202"/>
                </a:solidFill>
                <a:latin typeface="Aptos"/>
              </a:rPr>
              <a:t>SCOUT Mart: management has a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07008"/>
            <a:ext cx="107899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696969"/>
                </a:solidFill>
                <a:latin typeface="Aptos"/>
              </a:rPr>
              <a:t>Your job is to investigate — not guess.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696969"/>
                </a:solidFill>
                <a:latin typeface="Aptos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19088"/>
            <a:ext cx="5029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696969"/>
                </a:solidFill>
                <a:latin typeface="Aptos"/>
              </a:rPr>
              <a:t>SCOUT • DATA ANALYTICS &amp; VISUALIZATION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657600" cy="2194560"/>
          </a:xfrm>
          <a:prstGeom prst="roundRect">
            <a:avLst/>
          </a:prstGeom>
          <a:solidFill>
            <a:srgbClr val="020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148840"/>
            <a:ext cx="31089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D8B04"/>
                </a:solidFill>
                <a:latin typeface="Aptos"/>
              </a:rPr>
              <a:t>MANAGEMENT SAYS: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51760"/>
            <a:ext cx="310896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  <a:latin typeface="Aptos"/>
              </a:rPr>
              <a:t>“SALES ARE DOWN.”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60" y="1828800"/>
            <a:ext cx="6309360" cy="2194560"/>
          </a:xfrm>
          <a:prstGeom prst="roundRect">
            <a:avLst/>
          </a:prstGeom>
          <a:solidFill>
            <a:srgbClr val="F0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57800" y="2103120"/>
            <a:ext cx="56692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D8B04"/>
                </a:solidFill>
                <a:latin typeface="Aptos"/>
              </a:rPr>
              <a:t>YOUR MISSION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7800" y="2606040"/>
            <a:ext cx="5486400" cy="1005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400" b="1">
                <a:solidFill>
                  <a:srgbClr val="020202"/>
                </a:solidFill>
                <a:latin typeface="Aptos"/>
              </a:rPr>
              <a:t>Find out what changed,
using evidence from the data.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709160"/>
            <a:ext cx="1024128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900" b="1">
                <a:solidFill>
                  <a:srgbClr val="FD8B04"/>
                </a:solidFill>
                <a:latin typeface="Aptos"/>
              </a:rPr>
              <a:t>Rule: No “I think…” without evidence.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56032"/>
            <a:ext cx="2743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FD8B04"/>
                </a:solidFill>
                <a:latin typeface="Aptos"/>
              </a:rPr>
              <a:t>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1078992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020202"/>
                </a:solidFill>
                <a:latin typeface="Aptos"/>
              </a:rPr>
              <a:t>One workflow. One investigation.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07008"/>
            <a:ext cx="107899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696969"/>
                </a:solidFill>
                <a:latin typeface="Aptos"/>
              </a:rPr>
              <a:t>We will move through this loop using the same dataset.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696969"/>
                </a:solidFill>
                <a:latin typeface="Aptos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19088"/>
            <a:ext cx="5029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696969"/>
                </a:solidFill>
                <a:latin typeface="Aptos"/>
              </a:rPr>
              <a:t>SCOUT • DATA ANALYTICS &amp; VISUALIZATION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148840"/>
            <a:ext cx="1572768" cy="1143000"/>
          </a:xfrm>
          <a:prstGeom prst="roundRect">
            <a:avLst/>
          </a:prstGeom>
          <a:solidFill>
            <a:srgbClr val="020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2331720"/>
            <a:ext cx="320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D8B04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61488"/>
            <a:ext cx="12801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ASK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60320" y="2148840"/>
            <a:ext cx="1572768" cy="1143000"/>
          </a:xfrm>
          <a:prstGeom prst="roundRect">
            <a:avLst/>
          </a:prstGeom>
          <a:solidFill>
            <a:srgbClr val="020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70048" y="2331720"/>
            <a:ext cx="320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D8B04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79" y="2761488"/>
            <a:ext cx="12801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GET 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2148840"/>
            <a:ext cx="1572768" cy="1143000"/>
          </a:xfrm>
          <a:prstGeom prst="roundRect">
            <a:avLst/>
          </a:prstGeom>
          <a:solidFill>
            <a:srgbClr val="020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44568" y="2331720"/>
            <a:ext cx="320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D8B04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761488"/>
            <a:ext cx="12801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CLEAN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59" y="2148840"/>
            <a:ext cx="1572768" cy="1143000"/>
          </a:xfrm>
          <a:prstGeom prst="roundRect">
            <a:avLst/>
          </a:prstGeom>
          <a:solidFill>
            <a:srgbClr val="020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2331720"/>
            <a:ext cx="320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D8B04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761488"/>
            <a:ext cx="12801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ANALYZE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79" y="2148840"/>
            <a:ext cx="1572768" cy="1143000"/>
          </a:xfrm>
          <a:prstGeom prst="roundRect">
            <a:avLst/>
          </a:prstGeom>
          <a:solidFill>
            <a:srgbClr val="020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93607" y="2331720"/>
            <a:ext cx="320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D8B04"/>
                </a:solidFill>
                <a:latin typeface="Aptos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761488"/>
            <a:ext cx="12801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VISUALIZE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0" y="2148840"/>
            <a:ext cx="1572768" cy="1143000"/>
          </a:xfrm>
          <a:prstGeom prst="roundRect">
            <a:avLst/>
          </a:prstGeom>
          <a:solidFill>
            <a:srgbClr val="FD8B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68128" y="2331720"/>
            <a:ext cx="320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020202"/>
                </a:solidFill>
                <a:latin typeface="Aptos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5560" y="2761488"/>
            <a:ext cx="12801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020202"/>
                </a:solidFill>
                <a:latin typeface="Aptos"/>
              </a:rPr>
              <a:t>EXPLAIN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251960"/>
            <a:ext cx="1024128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700" b="0">
                <a:solidFill>
                  <a:srgbClr val="2D2D2D"/>
                </a:solidFill>
                <a:latin typeface="Aptos"/>
              </a:rPr>
              <a:t>The goal is not to finish every step perfectly.
The goal is to learn how an analyst moves from a question to evidence.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56032"/>
            <a:ext cx="2743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FD8B04"/>
                </a:solidFill>
                <a:latin typeface="Aptos"/>
              </a:rPr>
              <a:t>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1078992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020202"/>
                </a:solidFill>
                <a:latin typeface="Aptos"/>
              </a:rPr>
              <a:t>Problem ≠ analytical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07008"/>
            <a:ext cx="107899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696969"/>
                </a:solidFill>
                <a:latin typeface="Aptos"/>
              </a:rPr>
              <a:t>A problem tells you something is wrong. A question tells you what to investigate.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696969"/>
                </a:solidFill>
                <a:latin typeface="Aptos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19088"/>
            <a:ext cx="5029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696969"/>
                </a:solidFill>
                <a:latin typeface="Aptos"/>
              </a:rPr>
              <a:t>SCOUT • DATA ANALYTICS &amp; VISUALIZATION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657600" cy="2011680"/>
          </a:xfrm>
          <a:prstGeom prst="roundRect">
            <a:avLst/>
          </a:prstGeom>
          <a:solidFill>
            <a:srgbClr val="F0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103120"/>
            <a:ext cx="31089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D8B04"/>
                </a:solidFill>
                <a:latin typeface="Aptos"/>
              </a:rPr>
              <a:t>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51760"/>
            <a:ext cx="310896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500" b="1">
                <a:solidFill>
                  <a:srgbClr val="020202"/>
                </a:solidFill>
                <a:latin typeface="Aptos"/>
              </a:rPr>
              <a:t>“Sales are down.”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60" y="1828800"/>
            <a:ext cx="6309360" cy="2011680"/>
          </a:xfrm>
          <a:prstGeom prst="roundRect">
            <a:avLst/>
          </a:prstGeom>
          <a:solidFill>
            <a:srgbClr val="020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2103120"/>
            <a:ext cx="5760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D8B04"/>
                </a:solidFill>
                <a:latin typeface="Aptos"/>
              </a:rPr>
              <a:t>ANALYTICAL 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2606040"/>
            <a:ext cx="576072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Which products, locations or customer segments
changed the most?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434840"/>
            <a:ext cx="10241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900" b="1">
                <a:solidFill>
                  <a:srgbClr val="FD8B04"/>
                </a:solidFill>
                <a:latin typeface="Aptos"/>
              </a:rPr>
              <a:t>A good question gives the data a job to 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56032"/>
            <a:ext cx="2743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FD8B04"/>
                </a:solidFill>
                <a:latin typeface="Aptos"/>
              </a:rPr>
              <a:t>YOUR TURN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1078992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020202"/>
                </a:solidFill>
                <a:latin typeface="Aptos"/>
              </a:rPr>
              <a:t>Mission 01 — turn a complaint into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07008"/>
            <a:ext cx="107899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696969"/>
                </a:solidFill>
                <a:latin typeface="Aptos"/>
              </a:rPr>
              <a:t>2 minutes • Work in the chat or on paper.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696969"/>
                </a:solidFill>
                <a:latin typeface="Aptos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19088"/>
            <a:ext cx="5029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696969"/>
                </a:solidFill>
                <a:latin typeface="Aptos"/>
              </a:rPr>
              <a:t>SCOUT • DATA ANALYTICS &amp; VISUALIZATION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28800"/>
            <a:ext cx="10607040" cy="1051560"/>
          </a:xfrm>
          <a:prstGeom prst="roundRect">
            <a:avLst/>
          </a:prstGeom>
          <a:solidFill>
            <a:srgbClr val="020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57400"/>
            <a:ext cx="100584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  <a:latin typeface="Aptos"/>
              </a:rPr>
              <a:t>“Customers are buying less.”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429000"/>
            <a:ext cx="1874519" cy="777240"/>
          </a:xfrm>
          <a:prstGeom prst="roundRect">
            <a:avLst/>
          </a:prstGeom>
          <a:solidFill>
            <a:srgbClr val="F0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657600"/>
            <a:ext cx="1874519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D8B04"/>
                </a:solidFill>
                <a:latin typeface="Aptos"/>
              </a:rPr>
              <a:t>WHO?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71800" y="3429000"/>
            <a:ext cx="1874519" cy="777240"/>
          </a:xfrm>
          <a:prstGeom prst="roundRect">
            <a:avLst/>
          </a:prstGeom>
          <a:solidFill>
            <a:srgbClr val="F0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71800" y="3657600"/>
            <a:ext cx="1874519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D8B04"/>
                </a:solidFill>
                <a:latin typeface="Aptos"/>
              </a:rPr>
              <a:t>WHAT?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0" y="3429000"/>
            <a:ext cx="1874519" cy="777240"/>
          </a:xfrm>
          <a:prstGeom prst="roundRect">
            <a:avLst/>
          </a:prstGeom>
          <a:solidFill>
            <a:srgbClr val="F0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0" y="3657600"/>
            <a:ext cx="1874519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D8B04"/>
                </a:solidFill>
                <a:latin typeface="Aptos"/>
              </a:rPr>
              <a:t>WHEN?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69480" y="3429000"/>
            <a:ext cx="1874519" cy="777240"/>
          </a:xfrm>
          <a:prstGeom prst="roundRect">
            <a:avLst/>
          </a:prstGeom>
          <a:solidFill>
            <a:srgbClr val="F0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9480" y="3657600"/>
            <a:ext cx="1874519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D8B04"/>
                </a:solidFill>
                <a:latin typeface="Aptos"/>
              </a:rPr>
              <a:t>WHERE?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18320" y="3429000"/>
            <a:ext cx="1874519" cy="777240"/>
          </a:xfrm>
          <a:prstGeom prst="roundRect">
            <a:avLst/>
          </a:prstGeom>
          <a:solidFill>
            <a:srgbClr val="F0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0" y="3657600"/>
            <a:ext cx="1874519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D8B04"/>
                </a:solidFill>
                <a:latin typeface="Aptos"/>
              </a:rPr>
              <a:t>MEASURE?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709160"/>
            <a:ext cx="102412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020202"/>
                </a:solidFill>
                <a:latin typeface="Aptos"/>
              </a:rPr>
              <a:t>Write ONE question that is specific enough to answer with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56032"/>
            <a:ext cx="2743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FD8B04"/>
                </a:solidFill>
                <a:latin typeface="Aptos"/>
              </a:rPr>
              <a:t>GET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1078992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020202"/>
                </a:solidFill>
                <a:latin typeface="Aptos"/>
              </a:rPr>
              <a:t>Where could the data come from?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07008"/>
            <a:ext cx="107899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696969"/>
                </a:solidFill>
                <a:latin typeface="Aptos"/>
              </a:rPr>
              <a:t>Different questions require different sources.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696969"/>
                </a:solidFill>
                <a:latin typeface="Aptos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19088"/>
            <a:ext cx="5029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696969"/>
                </a:solidFill>
                <a:latin typeface="Aptos"/>
              </a:rPr>
              <a:t>SCOUT • DATA ANALYTICS &amp; VISUALIZATION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3383280" cy="1005840"/>
          </a:xfrm>
          <a:prstGeom prst="roundRect">
            <a:avLst/>
          </a:prstGeom>
          <a:solidFill>
            <a:srgbClr val="F0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93392"/>
            <a:ext cx="5029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020202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975104"/>
            <a:ext cx="22860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020202"/>
                </a:solidFill>
                <a:latin typeface="Aptos"/>
              </a:rPr>
              <a:t>TRANSACTIONS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487168"/>
            <a:ext cx="287121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Aptos"/>
              </a:rPr>
              <a:t>Sales, orders, payments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1828800"/>
            <a:ext cx="3383280" cy="1005840"/>
          </a:xfrm>
          <a:prstGeom prst="roundRect">
            <a:avLst/>
          </a:prstGeom>
          <a:solidFill>
            <a:srgbClr val="F0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1993392"/>
            <a:ext cx="5029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020202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1975104"/>
            <a:ext cx="22860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020202"/>
                </a:solidFill>
                <a:latin typeface="Aptos"/>
              </a:rPr>
              <a:t>DATABASE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592" y="2487168"/>
            <a:ext cx="287121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Aptos"/>
              </a:rPr>
              <a:t>Structured system records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1828800"/>
            <a:ext cx="3383280" cy="1005840"/>
          </a:xfrm>
          <a:prstGeom prst="roundRect">
            <a:avLst/>
          </a:prstGeom>
          <a:solidFill>
            <a:srgbClr val="F0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1993392"/>
            <a:ext cx="5029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020202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1975104"/>
            <a:ext cx="22860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020202"/>
                </a:solidFill>
                <a:latin typeface="Aptos"/>
              </a:rPr>
              <a:t>SURVEY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31352" y="2487168"/>
            <a:ext cx="287121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Aptos"/>
              </a:rPr>
              <a:t>Questions answered by people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54680"/>
            <a:ext cx="3383280" cy="1005840"/>
          </a:xfrm>
          <a:prstGeom prst="roundRect">
            <a:avLst/>
          </a:prstGeom>
          <a:solidFill>
            <a:srgbClr val="F0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319272"/>
            <a:ext cx="5029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020202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3300984"/>
            <a:ext cx="22860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020202"/>
                </a:solidFill>
                <a:latin typeface="Aptos"/>
              </a:rPr>
              <a:t>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" y="3813048"/>
            <a:ext cx="287121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Aptos"/>
              </a:rPr>
              <a:t>Data exchanged between applications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60" y="3154680"/>
            <a:ext cx="3383280" cy="1005840"/>
          </a:xfrm>
          <a:prstGeom prst="roundRect">
            <a:avLst/>
          </a:prstGeom>
          <a:solidFill>
            <a:srgbClr val="F0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9160" y="3319272"/>
            <a:ext cx="5029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020202"/>
                </a:solidFill>
                <a:latin typeface="Aptos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9240" y="3300984"/>
            <a:ext cx="22860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020202"/>
                </a:solidFill>
                <a:latin typeface="Aptos"/>
              </a:rPr>
              <a:t>PUBLIC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36592" y="3813048"/>
            <a:ext cx="287121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Aptos"/>
              </a:rPr>
              <a:t>Government / open datasets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75320" y="3154680"/>
            <a:ext cx="3383280" cy="1005840"/>
          </a:xfrm>
          <a:prstGeom prst="roundRect">
            <a:avLst/>
          </a:prstGeom>
          <a:solidFill>
            <a:srgbClr val="F0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0" y="3319272"/>
            <a:ext cx="5029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020202"/>
                </a:solidFill>
                <a:latin typeface="Aptos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3300984"/>
            <a:ext cx="22860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020202"/>
                </a:solidFill>
                <a:latin typeface="Aptos"/>
              </a:rPr>
              <a:t>SENSORS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31352" y="3813048"/>
            <a:ext cx="287121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Aptos"/>
              </a:rPr>
              <a:t>Machine-generated readings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4892040"/>
            <a:ext cx="102412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FD8B04"/>
                </a:solidFill>
                <a:latin typeface="Aptos"/>
              </a:rPr>
              <a:t>Ask: “What data would actually help answer my question?”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56032"/>
            <a:ext cx="2743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FD8B04"/>
                </a:solidFill>
                <a:latin typeface="Aptos"/>
              </a:rPr>
              <a:t>GET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1078992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020202"/>
                </a:solidFill>
                <a:latin typeface="Aptos"/>
              </a:rPr>
              <a:t>Mission 02 — does this data fit the question?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07008"/>
            <a:ext cx="107899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696969"/>
                </a:solidFill>
                <a:latin typeface="Aptos"/>
              </a:rPr>
              <a:t>Think before you open the spreadsheet.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696969"/>
                </a:solidFill>
                <a:latin typeface="Aptos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19088"/>
            <a:ext cx="5029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696969"/>
                </a:solidFill>
                <a:latin typeface="Aptos"/>
              </a:rPr>
              <a:t>SCOUT • DATA ANALYTICS &amp; VISUALIZATION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28800"/>
            <a:ext cx="4754880" cy="2286000"/>
          </a:xfrm>
          <a:prstGeom prst="roundRect">
            <a:avLst/>
          </a:prstGeom>
          <a:solidFill>
            <a:srgbClr val="020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103120"/>
            <a:ext cx="42062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D8B04"/>
                </a:solidFill>
                <a:latin typeface="Aptos"/>
              </a:rPr>
              <a:t>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651760"/>
            <a:ext cx="420624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Aptos"/>
              </a:rPr>
              <a:t>Why are students
failing Statistics?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97880" y="1828800"/>
            <a:ext cx="5440680" cy="2286000"/>
          </a:xfrm>
          <a:prstGeom prst="roundRect">
            <a:avLst/>
          </a:prstGeom>
          <a:solidFill>
            <a:srgbClr val="F0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2103120"/>
            <a:ext cx="47548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D8B04"/>
                </a:solidFill>
                <a:latin typeface="Aptos"/>
              </a:rPr>
              <a:t>AVAILABLE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651760"/>
            <a:ext cx="475488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000" b="1">
                <a:solidFill>
                  <a:srgbClr val="020202"/>
                </a:solidFill>
                <a:latin typeface="Aptos"/>
              </a:rPr>
              <a:t>Name • Age • Phone number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617720"/>
            <a:ext cx="102412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020202"/>
                </a:solidFill>
                <a:latin typeface="Aptos"/>
              </a:rPr>
              <a:t>Verdict: relevant? sufficient? representative? appropriate?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56032"/>
            <a:ext cx="2743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FD8B04"/>
                </a:solidFill>
                <a:latin typeface="Aptos"/>
              </a:rPr>
              <a:t>CLEAN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1078992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020202"/>
                </a:solidFill>
                <a:latin typeface="Aptos"/>
              </a:rPr>
              <a:t>Now open the dataset.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07008"/>
            <a:ext cx="107899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696969"/>
                </a:solidFill>
                <a:latin typeface="Aptos"/>
              </a:rPr>
              <a:t>Download the SCOUT Mart practice workbook and inspect it before changing anything.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696969"/>
                </a:solidFill>
                <a:latin typeface="Aptos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19088"/>
            <a:ext cx="5029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696969"/>
                </a:solidFill>
                <a:latin typeface="Aptos"/>
              </a:rPr>
              <a:t>SCOUT • DATA ANALYTICS &amp; VISUALIZATION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10515600" cy="1143000"/>
          </a:xfrm>
          <a:prstGeom prst="roundRect">
            <a:avLst/>
          </a:prstGeom>
          <a:solidFill>
            <a:srgbClr val="020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103120"/>
            <a:ext cx="99669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SCOUT_Mart_Practice_Dataset.xlsx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29000"/>
            <a:ext cx="1024128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400" b="1">
                <a:solidFill>
                  <a:srgbClr val="FD8B04"/>
                </a:solidFill>
                <a:latin typeface="Aptos"/>
              </a:rPr>
              <a:t>DO NOT CLEAN YET.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1024128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700" b="0">
                <a:solidFill>
                  <a:srgbClr val="2D2D2D"/>
                </a:solidFill>
                <a:latin typeface="Aptos"/>
              </a:rPr>
              <a:t>Spend 3 minutes scrolling, sorting and observing.
Your first job is to notice what looks suspicious.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56032"/>
            <a:ext cx="2743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FD8B04"/>
                </a:solidFill>
                <a:latin typeface="Aptos"/>
              </a:rPr>
              <a:t>CLEAN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1078992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020202"/>
                </a:solidFill>
                <a:latin typeface="Aptos"/>
              </a:rPr>
              <a:t>Mission 03 — data-quality hunt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07008"/>
            <a:ext cx="107899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696969"/>
                </a:solidFill>
                <a:latin typeface="Aptos"/>
              </a:rPr>
              <a:t>Find at least FIVE problems. Don't fix anything yet.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696969"/>
                </a:solidFill>
                <a:latin typeface="Aptos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19088"/>
            <a:ext cx="5029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696969"/>
                </a:solidFill>
                <a:latin typeface="Aptos"/>
              </a:rPr>
              <a:t>SCOUT • DATA ANALYTICS &amp; VISUALIZATION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5074920" cy="713232"/>
          </a:xfrm>
          <a:prstGeom prst="roundRect">
            <a:avLst/>
          </a:prstGeom>
          <a:solidFill>
            <a:srgbClr val="F0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75104"/>
            <a:ext cx="365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FD8B04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929384"/>
            <a:ext cx="41605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020202"/>
                </a:solidFill>
                <a:latin typeface="Aptos"/>
              </a:rPr>
              <a:t>Missing values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783080"/>
            <a:ext cx="5074920" cy="713232"/>
          </a:xfrm>
          <a:prstGeom prst="roundRect">
            <a:avLst/>
          </a:prstGeom>
          <a:solidFill>
            <a:srgbClr val="F0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1975104"/>
            <a:ext cx="365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FD8B04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1929384"/>
            <a:ext cx="41605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020202"/>
                </a:solidFill>
                <a:latin typeface="Aptos"/>
              </a:rPr>
              <a:t>Duplicates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743200"/>
            <a:ext cx="5074920" cy="713232"/>
          </a:xfrm>
          <a:prstGeom prst="roundRect">
            <a:avLst/>
          </a:prstGeom>
          <a:solidFill>
            <a:srgbClr val="F0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2935224"/>
            <a:ext cx="365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FD8B04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2889504"/>
            <a:ext cx="41605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020202"/>
                </a:solidFill>
                <a:latin typeface="Aptos"/>
              </a:rPr>
              <a:t>Wrong data types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743200"/>
            <a:ext cx="5074920" cy="713232"/>
          </a:xfrm>
          <a:prstGeom prst="roundRect">
            <a:avLst/>
          </a:prstGeom>
          <a:solidFill>
            <a:srgbClr val="F0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2935224"/>
            <a:ext cx="365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FD8B04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2889504"/>
            <a:ext cx="41605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020202"/>
                </a:solidFill>
                <a:latin typeface="Aptos"/>
              </a:rPr>
              <a:t>Inconsistent categories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703320"/>
            <a:ext cx="5074920" cy="713232"/>
          </a:xfrm>
          <a:prstGeom prst="roundRect">
            <a:avLst/>
          </a:prstGeom>
          <a:solidFill>
            <a:srgbClr val="F0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3895344"/>
            <a:ext cx="365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FD8B04"/>
                </a:solidFill>
                <a:latin typeface="Aptos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3849624"/>
            <a:ext cx="41605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020202"/>
                </a:solidFill>
                <a:latin typeface="Aptos"/>
              </a:rPr>
              <a:t>Invalid values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703320"/>
            <a:ext cx="5074920" cy="713232"/>
          </a:xfrm>
          <a:prstGeom prst="roundRect">
            <a:avLst/>
          </a:prstGeom>
          <a:solidFill>
            <a:srgbClr val="F0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82512" y="3895344"/>
            <a:ext cx="365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FD8B04"/>
                </a:solidFill>
                <a:latin typeface="Aptos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3849624"/>
            <a:ext cx="41605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020202"/>
                </a:solidFill>
                <a:latin typeface="Aptos"/>
              </a:rPr>
              <a:t>Possible outliers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663440"/>
            <a:ext cx="5074920" cy="713232"/>
          </a:xfrm>
          <a:prstGeom prst="roundRect">
            <a:avLst/>
          </a:prstGeom>
          <a:solidFill>
            <a:srgbClr val="F0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4855464"/>
            <a:ext cx="365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FD8B04"/>
                </a:solidFill>
                <a:latin typeface="Aptos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4809744"/>
            <a:ext cx="41605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020202"/>
                </a:solidFill>
                <a:latin typeface="Aptos"/>
              </a:rPr>
              <a:t>Formatting / entry errors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FD8B04"/>
                </a:solidFill>
                <a:latin typeface="Aptos"/>
              </a:rPr>
              <a:t>Bonus: write the Transaction_ID where you found each problem.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56032"/>
            <a:ext cx="2743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FD8B04"/>
                </a:solidFill>
                <a:latin typeface="Aptos"/>
              </a:rPr>
              <a:t>CLEAN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1078992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020202"/>
                </a:solidFill>
                <a:latin typeface="Aptos"/>
              </a:rPr>
              <a:t>Don't clean blindly.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07008"/>
            <a:ext cx="107899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696969"/>
                </a:solidFill>
                <a:latin typeface="Aptos"/>
              </a:rPr>
              <a:t>The right action depends on the reason the value is wrong.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696969"/>
                </a:solidFill>
                <a:latin typeface="Aptos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19088"/>
            <a:ext cx="5029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696969"/>
                </a:solidFill>
                <a:latin typeface="Aptos"/>
              </a:rPr>
              <a:t>SCOUT • DATA ANALYTICS &amp; VISUALIZATION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83080"/>
            <a:ext cx="3383280" cy="1188720"/>
          </a:xfrm>
          <a:prstGeom prst="roundRect">
            <a:avLst/>
          </a:prstGeom>
          <a:solidFill>
            <a:srgbClr val="020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47672"/>
            <a:ext cx="5029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D8B04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929384"/>
            <a:ext cx="22860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MISSING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441448"/>
            <a:ext cx="2871216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Investigate → leave, correct, remove or impute.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1783080"/>
            <a:ext cx="3383280" cy="1188720"/>
          </a:xfrm>
          <a:prstGeom prst="roundRect">
            <a:avLst/>
          </a:prstGeom>
          <a:solidFill>
            <a:srgbClr val="F0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1947672"/>
            <a:ext cx="5029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020202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1929384"/>
            <a:ext cx="22860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020202"/>
                </a:solidFill>
                <a:latin typeface="Aptos"/>
              </a:rPr>
              <a:t>DUPLICATE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592" y="2441448"/>
            <a:ext cx="2871216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Aptos"/>
              </a:rPr>
              <a:t>Confirm it is truly duplicated before removing.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1783080"/>
            <a:ext cx="3383280" cy="1188720"/>
          </a:xfrm>
          <a:prstGeom prst="roundRect">
            <a:avLst/>
          </a:prstGeom>
          <a:solidFill>
            <a:srgbClr val="F0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1947672"/>
            <a:ext cx="5029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020202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1929384"/>
            <a:ext cx="22860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020202"/>
                </a:solidFill>
                <a:latin typeface="Aptos"/>
              </a:rPr>
              <a:t>WRONG TYPE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31352" y="2441448"/>
            <a:ext cx="2871216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Aptos"/>
              </a:rPr>
              <a:t>Convert after checking the original value.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291839"/>
            <a:ext cx="3383280" cy="1188720"/>
          </a:xfrm>
          <a:prstGeom prst="roundRect">
            <a:avLst/>
          </a:prstGeom>
          <a:solidFill>
            <a:srgbClr val="F0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456432"/>
            <a:ext cx="5029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020202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3438144"/>
            <a:ext cx="22860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020202"/>
                </a:solidFill>
                <a:latin typeface="Aptos"/>
              </a:rPr>
              <a:t>CATEGORY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" y="3950207"/>
            <a:ext cx="2871216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Aptos"/>
              </a:rPr>
              <a:t>Standardize labels with a clear mapping.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60" y="3291839"/>
            <a:ext cx="3383280" cy="1188720"/>
          </a:xfrm>
          <a:prstGeom prst="roundRect">
            <a:avLst/>
          </a:prstGeom>
          <a:solidFill>
            <a:srgbClr val="020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9160" y="3456432"/>
            <a:ext cx="5029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D8B04"/>
                </a:solidFill>
                <a:latin typeface="Aptos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9240" y="3438144"/>
            <a:ext cx="22860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INVALID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36592" y="3950207"/>
            <a:ext cx="2871216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Use a business rule; don't invent a value.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75320" y="3291839"/>
            <a:ext cx="3383280" cy="1188720"/>
          </a:xfrm>
          <a:prstGeom prst="roundRect">
            <a:avLst/>
          </a:prstGeom>
          <a:solidFill>
            <a:srgbClr val="F0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0" y="3456432"/>
            <a:ext cx="5029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020202"/>
                </a:solidFill>
                <a:latin typeface="Aptos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3438144"/>
            <a:ext cx="22860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020202"/>
                </a:solidFill>
                <a:latin typeface="Aptos"/>
              </a:rPr>
              <a:t>OUTLIER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31352" y="3950207"/>
            <a:ext cx="2871216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Aptos"/>
              </a:rPr>
              <a:t>Investigate first. Unusual ≠ automatically wrong.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56032"/>
            <a:ext cx="2743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FD8B04"/>
                </a:solidFill>
                <a:latin typeface="Aptos"/>
              </a:rPr>
              <a:t>CLEAN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1078992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020202"/>
                </a:solidFill>
                <a:latin typeface="Aptos"/>
              </a:rPr>
              <a:t>Mission 04 — clean the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07008"/>
            <a:ext cx="107899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696969"/>
                </a:solidFill>
                <a:latin typeface="Aptos"/>
              </a:rPr>
              <a:t>10 minutes • Your goal is a defensible dataset, not a perfect-looking sheet.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696969"/>
                </a:solidFill>
                <a:latin typeface="Aptos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19088"/>
            <a:ext cx="5029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696969"/>
                </a:solidFill>
                <a:latin typeface="Aptos"/>
              </a:rPr>
              <a:t>SCOUT • DATA ANALYTICS &amp; VISUALIZATION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83080"/>
            <a:ext cx="10424160" cy="530352"/>
          </a:xfrm>
          <a:prstGeom prst="roundRect">
            <a:avLst/>
          </a:prstGeom>
          <a:solidFill>
            <a:srgbClr val="020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901952"/>
            <a:ext cx="3657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FD8B04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74519"/>
            <a:ext cx="91440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Standardize Lagos / lagos / LAGOS.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468880"/>
            <a:ext cx="10424160" cy="530352"/>
          </a:xfrm>
          <a:prstGeom prst="roundRect">
            <a:avLst/>
          </a:prstGeom>
          <a:solidFill>
            <a:srgbClr val="F0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587752"/>
            <a:ext cx="3657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020202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560320"/>
            <a:ext cx="91440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020202"/>
                </a:solidFill>
                <a:latin typeface="Aptos"/>
              </a:rPr>
              <a:t>Find and remove the true duplicate transaction.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154680"/>
            <a:ext cx="10424160" cy="530352"/>
          </a:xfrm>
          <a:prstGeom prst="roundRect">
            <a:avLst/>
          </a:prstGeom>
          <a:solidFill>
            <a:srgbClr val="020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273552"/>
            <a:ext cx="3657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FD8B04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246120"/>
            <a:ext cx="91440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Convert Unit_Price to a number.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840480"/>
            <a:ext cx="10424160" cy="530352"/>
          </a:xfrm>
          <a:prstGeom prst="roundRect">
            <a:avLst/>
          </a:prstGeom>
          <a:solidFill>
            <a:srgbClr val="F0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959352"/>
            <a:ext cx="3657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020202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931920"/>
            <a:ext cx="91440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020202"/>
                </a:solidFill>
                <a:latin typeface="Aptos"/>
              </a:rPr>
              <a:t>Flag or fix impossible Quantity / Rating values.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526280"/>
            <a:ext cx="10424160" cy="530352"/>
          </a:xfrm>
          <a:prstGeom prst="roundRect">
            <a:avLst/>
          </a:prstGeom>
          <a:solidFill>
            <a:srgbClr val="020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645152"/>
            <a:ext cx="3657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FD8B04"/>
                </a:solidFill>
                <a:latin typeface="Aptos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617720"/>
            <a:ext cx="91440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Investigate missing values — don't guess.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486400"/>
            <a:ext cx="102412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FD8B04"/>
                </a:solidFill>
                <a:latin typeface="Aptos"/>
              </a:rPr>
              <a:t>Checkpoint: What did you change, and why?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56032"/>
            <a:ext cx="2743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FD8B04"/>
                </a:solidFill>
                <a:latin typeface="Aptos"/>
              </a:rPr>
              <a:t>ANALYZE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1078992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020202"/>
                </a:solidFill>
                <a:latin typeface="Aptos"/>
              </a:rPr>
              <a:t>Mission 05 — create Transaction Value.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07008"/>
            <a:ext cx="107899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696969"/>
                </a:solidFill>
                <a:latin typeface="Aptos"/>
              </a:rPr>
              <a:t>Now we can calculate something useful.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696969"/>
                </a:solidFill>
                <a:latin typeface="Aptos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19088"/>
            <a:ext cx="5029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696969"/>
                </a:solidFill>
                <a:latin typeface="Aptos"/>
              </a:rPr>
              <a:t>SCOUT • DATA ANALYTICS &amp; VISUALIZATION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1828800"/>
            <a:ext cx="10058400" cy="1143000"/>
          </a:xfrm>
          <a:prstGeom prst="roundRect">
            <a:avLst/>
          </a:prstGeom>
          <a:solidFill>
            <a:srgbClr val="F0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103120"/>
            <a:ext cx="95097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300" b="1">
                <a:solidFill>
                  <a:srgbClr val="020202"/>
                </a:solidFill>
                <a:latin typeface="Aptos"/>
              </a:rPr>
              <a:t>Transaction Value = Quantity × Unit Price × (1 − Discount)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29000"/>
            <a:ext cx="1024128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700" b="0">
                <a:solidFill>
                  <a:srgbClr val="2D2D2D"/>
                </a:solidFill>
                <a:latin typeface="Aptos"/>
              </a:rPr>
              <a:t>In Excel: create the column, fill the formula down, then calculate: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4160520"/>
            <a:ext cx="2148840" cy="822960"/>
          </a:xfrm>
          <a:prstGeom prst="roundRect">
            <a:avLst/>
          </a:prstGeom>
          <a:solidFill>
            <a:srgbClr val="020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425696"/>
            <a:ext cx="2148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MEAN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0" y="4160520"/>
            <a:ext cx="2148840" cy="822960"/>
          </a:xfrm>
          <a:prstGeom prst="roundRect">
            <a:avLst/>
          </a:prstGeom>
          <a:solidFill>
            <a:srgbClr val="020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4425696"/>
            <a:ext cx="2148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MEDIAN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160520"/>
            <a:ext cx="2148840" cy="822960"/>
          </a:xfrm>
          <a:prstGeom prst="roundRect">
            <a:avLst/>
          </a:prstGeom>
          <a:solidFill>
            <a:srgbClr val="020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4425696"/>
            <a:ext cx="2148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MIN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78239" y="4160520"/>
            <a:ext cx="2148840" cy="822960"/>
          </a:xfrm>
          <a:prstGeom prst="roundRect">
            <a:avLst/>
          </a:prstGeom>
          <a:solidFill>
            <a:srgbClr val="020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39" y="4425696"/>
            <a:ext cx="2148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MAX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394960"/>
            <a:ext cx="102412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FD8B04"/>
                </a:solidFill>
                <a:latin typeface="Aptos"/>
              </a:rPr>
              <a:t>Which statistic best describes a “typical” transaction?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56032"/>
            <a:ext cx="2743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FD8B04"/>
                </a:solidFill>
                <a:latin typeface="Aptos"/>
              </a:rPr>
              <a:t>ANALYZE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1078992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020202"/>
                </a:solidFill>
                <a:latin typeface="Aptos"/>
              </a:rPr>
              <a:t>Mean vs median — let the data surprise you.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07008"/>
            <a:ext cx="107899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696969"/>
                </a:solidFill>
                <a:latin typeface="Aptos"/>
              </a:rPr>
              <a:t>Don't memorize the rule. See the effect of an extreme value.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696969"/>
                </a:solidFill>
                <a:latin typeface="Aptos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19088"/>
            <a:ext cx="5029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696969"/>
                </a:solidFill>
                <a:latin typeface="Aptos"/>
              </a:rPr>
              <a:t>SCOUT • DATA ANALYTICS &amp; VISUALIZATION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874519"/>
            <a:ext cx="1645920" cy="777240"/>
          </a:xfrm>
          <a:prstGeom prst="roundRect">
            <a:avLst/>
          </a:prstGeom>
          <a:solidFill>
            <a:srgbClr val="020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30552"/>
            <a:ext cx="1645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₦80k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71800" y="1874519"/>
            <a:ext cx="1645920" cy="777240"/>
          </a:xfrm>
          <a:prstGeom prst="roundRect">
            <a:avLst/>
          </a:prstGeom>
          <a:solidFill>
            <a:srgbClr val="020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71800" y="2130552"/>
            <a:ext cx="1645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₦90k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1874519"/>
            <a:ext cx="1645920" cy="777240"/>
          </a:xfrm>
          <a:prstGeom prst="roundRect">
            <a:avLst/>
          </a:prstGeom>
          <a:solidFill>
            <a:srgbClr val="020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2130552"/>
            <a:ext cx="1645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₦100k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86600" y="1874519"/>
            <a:ext cx="1645920" cy="777240"/>
          </a:xfrm>
          <a:prstGeom prst="roundRect">
            <a:avLst/>
          </a:prstGeom>
          <a:solidFill>
            <a:srgbClr val="020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86600" y="2130552"/>
            <a:ext cx="1645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₦110k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1874519"/>
            <a:ext cx="1645920" cy="777240"/>
          </a:xfrm>
          <a:prstGeom prst="roundRect">
            <a:avLst/>
          </a:prstGeom>
          <a:solidFill>
            <a:srgbClr val="FD8B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2130552"/>
            <a:ext cx="1645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020202"/>
                </a:solidFill>
                <a:latin typeface="Aptos"/>
              </a:rPr>
              <a:t>₦2m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246120"/>
            <a:ext cx="49377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200" b="1">
                <a:solidFill>
                  <a:srgbClr val="020202"/>
                </a:solidFill>
                <a:latin typeface="Aptos"/>
              </a:rPr>
              <a:t>MEAN = ₦476,000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3246120"/>
            <a:ext cx="49377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200" b="1">
                <a:solidFill>
                  <a:srgbClr val="020202"/>
                </a:solidFill>
                <a:latin typeface="Aptos"/>
              </a:rPr>
              <a:t>MEDIAN = ₦100,000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069080"/>
            <a:ext cx="1024128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900" b="1">
                <a:solidFill>
                  <a:srgbClr val="FD8B04"/>
                </a:solidFill>
                <a:latin typeface="Aptos"/>
              </a:rPr>
              <a:t>Question: Which one would you report as the “typical” income — and why?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56032"/>
            <a:ext cx="2743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FD8B04"/>
                </a:solidFill>
                <a:latin typeface="Aptos"/>
              </a:rPr>
              <a:t>ANALYZE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1078992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020202"/>
                </a:solidFill>
                <a:latin typeface="Aptos"/>
              </a:rPr>
              <a:t>Spread: are the values tightly packed or far apart?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07008"/>
            <a:ext cx="107899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696969"/>
                </a:solidFill>
                <a:latin typeface="Aptos"/>
              </a:rPr>
              <a:t>Center tells you where. Spread tells you how much values vary.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696969"/>
                </a:solidFill>
                <a:latin typeface="Aptos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19088"/>
            <a:ext cx="5029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696969"/>
                </a:solidFill>
                <a:latin typeface="Aptos"/>
              </a:rPr>
              <a:t>SCOUT • DATA ANALYTICS &amp; VISUALIZATION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4937760" cy="2194560"/>
          </a:xfrm>
          <a:prstGeom prst="roundRect">
            <a:avLst/>
          </a:prstGeom>
          <a:solidFill>
            <a:srgbClr val="F0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103120"/>
            <a:ext cx="4389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D8B04"/>
                </a:solidFill>
                <a:latin typeface="Aptos"/>
              </a:rPr>
              <a:t>DATA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743200"/>
            <a:ext cx="43891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100" b="1">
                <a:solidFill>
                  <a:srgbClr val="020202"/>
                </a:solidFill>
                <a:latin typeface="Aptos"/>
              </a:rPr>
              <a:t>48  •  49  •  50  •  51  •  52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828800"/>
            <a:ext cx="4937760" cy="2194560"/>
          </a:xfrm>
          <a:prstGeom prst="roundRect">
            <a:avLst/>
          </a:prstGeom>
          <a:solidFill>
            <a:srgbClr val="020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103120"/>
            <a:ext cx="4389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D8B04"/>
                </a:solidFill>
                <a:latin typeface="Aptos"/>
              </a:rPr>
              <a:t>DATA 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743200"/>
            <a:ext cx="43891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10  •  30  •  50  •  70  •  90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526280"/>
            <a:ext cx="1024128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FD8B04"/>
                </a:solidFill>
                <a:latin typeface="Aptos"/>
              </a:rPr>
              <a:t>Which dataset is more spread out? What would a measure of spread help us communicate?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56032"/>
            <a:ext cx="2743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FD8B04"/>
                </a:solidFill>
                <a:latin typeface="Aptos"/>
              </a:rPr>
              <a:t>ANALYZE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1078992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020202"/>
                </a:solidFill>
                <a:latin typeface="Aptos"/>
              </a:rPr>
              <a:t>Distribution: what does the shape tell us?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07008"/>
            <a:ext cx="107899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696969"/>
                </a:solidFill>
                <a:latin typeface="Aptos"/>
              </a:rPr>
              <a:t>A distribution shows how values are arranged across the dataset.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696969"/>
                </a:solidFill>
                <a:latin typeface="Aptos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19088"/>
            <a:ext cx="5029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696969"/>
                </a:solidFill>
                <a:latin typeface="Aptos"/>
              </a:rPr>
              <a:t>SCOUT • DATA ANALYTICS &amp; VISUALIZATION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3383280" cy="2377440"/>
          </a:xfrm>
          <a:prstGeom prst="roundRect">
            <a:avLst/>
          </a:prstGeom>
          <a:solidFill>
            <a:srgbClr val="F0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57400"/>
            <a:ext cx="31089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D8B04"/>
                </a:solidFill>
                <a:latin typeface="Aptos"/>
              </a:rPr>
              <a:t>SYMMETRIC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43200"/>
            <a:ext cx="30175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600" b="1">
                <a:solidFill>
                  <a:srgbClr val="020202"/>
                </a:solidFill>
                <a:latin typeface="Aptos"/>
              </a:rPr>
              <a:t>▁▃▆█▆▃▁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29000"/>
            <a:ext cx="292608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0">
                <a:solidFill>
                  <a:srgbClr val="2D2D2D"/>
                </a:solidFill>
                <a:latin typeface="Aptos"/>
              </a:rPr>
              <a:t>Balanced around the centre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1828800"/>
            <a:ext cx="3383280" cy="2377440"/>
          </a:xfrm>
          <a:prstGeom prst="roundRect">
            <a:avLst/>
          </a:prstGeom>
          <a:solidFill>
            <a:srgbClr val="F0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2057400"/>
            <a:ext cx="31089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D8B04"/>
                </a:solidFill>
                <a:latin typeface="Aptos"/>
              </a:rPr>
              <a:t>RIGHT-SKEWED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743200"/>
            <a:ext cx="30175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600" b="1">
                <a:solidFill>
                  <a:srgbClr val="020202"/>
                </a:solidFill>
                <a:latin typeface="Aptos"/>
              </a:rPr>
              <a:t>█▇▅▄▃▂▁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3429000"/>
            <a:ext cx="292608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0">
                <a:solidFill>
                  <a:srgbClr val="2D2D2D"/>
                </a:solidFill>
                <a:latin typeface="Aptos"/>
              </a:rPr>
              <a:t>Long tail toward larger values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1828800"/>
            <a:ext cx="3383280" cy="2377440"/>
          </a:xfrm>
          <a:prstGeom prst="roundRect">
            <a:avLst/>
          </a:prstGeom>
          <a:solidFill>
            <a:srgbClr val="F0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2057400"/>
            <a:ext cx="31089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D8B04"/>
                </a:solidFill>
                <a:latin typeface="Aptos"/>
              </a:rPr>
              <a:t>LEFT-SKEWED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743200"/>
            <a:ext cx="30175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600" b="1">
                <a:solidFill>
                  <a:srgbClr val="020202"/>
                </a:solidFill>
                <a:latin typeface="Aptos"/>
              </a:rPr>
              <a:t>▁▂▃▄▅▇█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429000"/>
            <a:ext cx="292608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0">
                <a:solidFill>
                  <a:srgbClr val="2D2D2D"/>
                </a:solidFill>
                <a:latin typeface="Aptos"/>
              </a:rPr>
              <a:t>Long tail toward smaller values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754880"/>
            <a:ext cx="1024128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FD8B04"/>
                </a:solidFill>
                <a:latin typeface="Aptos"/>
              </a:rPr>
              <a:t>Look at the tail, not just the tallest bar.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56032"/>
            <a:ext cx="2743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FD8B04"/>
                </a:solidFill>
                <a:latin typeface="Aptos"/>
              </a:rPr>
              <a:t>ANALYZE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1078992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020202"/>
                </a:solidFill>
                <a:latin typeface="Aptos"/>
              </a:rPr>
              <a:t>Mission 06 — spot skewness in your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07008"/>
            <a:ext cx="107899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696969"/>
                </a:solidFill>
                <a:latin typeface="Aptos"/>
              </a:rPr>
              <a:t>Use your Transaction_Value column. What does the shape look like?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696969"/>
                </a:solidFill>
                <a:latin typeface="Aptos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19088"/>
            <a:ext cx="5029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696969"/>
                </a:solidFill>
                <a:latin typeface="Aptos"/>
              </a:rPr>
              <a:t>SCOUT • DATA ANALYTICS &amp; VISUALIZATION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37360"/>
            <a:ext cx="10424160" cy="566928"/>
          </a:xfrm>
          <a:prstGeom prst="roundRect">
            <a:avLst/>
          </a:prstGeom>
          <a:solidFill>
            <a:srgbClr val="020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874519"/>
            <a:ext cx="3657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FD8B04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847088"/>
            <a:ext cx="91440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Create a histogram.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514600"/>
            <a:ext cx="10424160" cy="566928"/>
          </a:xfrm>
          <a:prstGeom prst="roundRect">
            <a:avLst/>
          </a:prstGeom>
          <a:solidFill>
            <a:srgbClr val="F0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651760"/>
            <a:ext cx="3657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020202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624328"/>
            <a:ext cx="91440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020202"/>
                </a:solidFill>
                <a:latin typeface="Aptos"/>
              </a:rPr>
              <a:t>Describe the shape in one sentence.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291839"/>
            <a:ext cx="10424160" cy="566928"/>
          </a:xfrm>
          <a:prstGeom prst="roundRect">
            <a:avLst/>
          </a:prstGeom>
          <a:solidFill>
            <a:srgbClr val="020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429000"/>
            <a:ext cx="3657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FD8B04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3401568"/>
            <a:ext cx="91440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Compare mean and median.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069079"/>
            <a:ext cx="10424160" cy="566928"/>
          </a:xfrm>
          <a:prstGeom prst="roundRect">
            <a:avLst/>
          </a:prstGeom>
          <a:solidFill>
            <a:srgbClr val="F0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206240"/>
            <a:ext cx="3657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020202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4178808"/>
            <a:ext cx="91440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020202"/>
                </a:solidFill>
                <a:latin typeface="Aptos"/>
              </a:rPr>
              <a:t>Ask what might be causing the shape.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212080"/>
            <a:ext cx="1024128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FD8B04"/>
                </a:solidFill>
                <a:latin typeface="Aptos"/>
              </a:rPr>
              <a:t>If the data is strongly right-skewed, which measure of centre may be more useful?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56032"/>
            <a:ext cx="2743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FD8B04"/>
                </a:solidFill>
                <a:latin typeface="Aptos"/>
              </a:rPr>
              <a:t>ANALYZE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1078992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020202"/>
                </a:solidFill>
                <a:latin typeface="Aptos"/>
              </a:rPr>
              <a:t>IQR: a practical way to describe the middle 50%.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07008"/>
            <a:ext cx="107899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696969"/>
                </a:solidFill>
                <a:latin typeface="Aptos"/>
              </a:rPr>
              <a:t>You will use this to investigate potential outliers.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696969"/>
                </a:solidFill>
                <a:latin typeface="Aptos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19088"/>
            <a:ext cx="5029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696969"/>
                </a:solidFill>
                <a:latin typeface="Aptos"/>
              </a:rPr>
              <a:t>SCOUT • DATA ANALYTICS &amp; VISUALIZATION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10241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200" b="1">
                <a:solidFill>
                  <a:srgbClr val="020202"/>
                </a:solidFill>
                <a:latin typeface="Aptos"/>
              </a:rPr>
              <a:t>MIN  |  Q1  |  MEDIAN  |  Q3  |  MAX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2606040"/>
            <a:ext cx="6309360" cy="731520"/>
          </a:xfrm>
          <a:prstGeom prst="roundRect">
            <a:avLst/>
          </a:prstGeom>
          <a:solidFill>
            <a:srgbClr val="F0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0" y="2816352"/>
            <a:ext cx="63093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FD8B04"/>
                </a:solidFill>
                <a:latin typeface="Aptos"/>
              </a:rPr>
              <a:t>←  MIDDLE 50%  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94760"/>
            <a:ext cx="102412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500" b="1">
                <a:solidFill>
                  <a:srgbClr val="FD8B04"/>
                </a:solidFill>
                <a:latin typeface="Aptos"/>
              </a:rPr>
              <a:t>IQR = Q3 − Q1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572000"/>
            <a:ext cx="1024128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020202"/>
                </a:solidFill>
                <a:latin typeface="Aptos"/>
              </a:rPr>
              <a:t>Why is IQR useful when extreme values are present?
Discuss before calculating.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56032"/>
            <a:ext cx="2743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FD8B04"/>
                </a:solidFill>
                <a:latin typeface="Aptos"/>
              </a:rPr>
              <a:t>ANALYZE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1078992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020202"/>
                </a:solidFill>
                <a:latin typeface="Aptos"/>
              </a:rPr>
              <a:t>Mission 07 — find the potential outlier.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07008"/>
            <a:ext cx="107899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696969"/>
                </a:solidFill>
                <a:latin typeface="Aptos"/>
              </a:rPr>
              <a:t>Work this one with me, then repeat the logic on your dataset.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696969"/>
                </a:solidFill>
                <a:latin typeface="Aptos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19088"/>
            <a:ext cx="5029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696969"/>
                </a:solidFill>
                <a:latin typeface="Aptos"/>
              </a:rPr>
              <a:t>SCOUT • DATA ANALYTICS &amp; VISUALIZATION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10241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300" b="1">
                <a:solidFill>
                  <a:srgbClr val="020202"/>
                </a:solidFill>
                <a:latin typeface="Aptos"/>
              </a:rPr>
              <a:t>2, 3, 4, 5, 6, 7, 8, 9, 10, 30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514600"/>
            <a:ext cx="4846320" cy="566928"/>
          </a:xfrm>
          <a:prstGeom prst="roundRect">
            <a:avLst/>
          </a:prstGeom>
          <a:solidFill>
            <a:srgbClr val="F0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670048"/>
            <a:ext cx="1143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FD8B04"/>
                </a:solidFill>
                <a:latin typeface="Aptos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2624328"/>
            <a:ext cx="31089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020202"/>
                </a:solidFill>
                <a:latin typeface="Aptos"/>
              </a:rPr>
              <a:t>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514600"/>
            <a:ext cx="4846320" cy="566928"/>
          </a:xfrm>
          <a:prstGeom prst="roundRect">
            <a:avLst/>
          </a:prstGeom>
          <a:solidFill>
            <a:srgbClr val="F0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2670048"/>
            <a:ext cx="1143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FD8B04"/>
                </a:solidFill>
                <a:latin typeface="Aptos"/>
              </a:rPr>
              <a:t>Median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2624328"/>
            <a:ext cx="31089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020202"/>
                </a:solidFill>
                <a:latin typeface="Aptos"/>
              </a:rPr>
              <a:t>6.5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291840"/>
            <a:ext cx="4846320" cy="566928"/>
          </a:xfrm>
          <a:prstGeom prst="roundRect">
            <a:avLst/>
          </a:prstGeom>
          <a:solidFill>
            <a:srgbClr val="F0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447288"/>
            <a:ext cx="1143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FD8B04"/>
                </a:solidFill>
                <a:latin typeface="Aptos"/>
              </a:rPr>
              <a:t>Q3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3401568"/>
            <a:ext cx="31089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020202"/>
                </a:solidFill>
                <a:latin typeface="Aptos"/>
              </a:rPr>
              <a:t>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291840"/>
            <a:ext cx="4846320" cy="566928"/>
          </a:xfrm>
          <a:prstGeom prst="roundRect">
            <a:avLst/>
          </a:prstGeom>
          <a:solidFill>
            <a:srgbClr val="F0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3447288"/>
            <a:ext cx="1143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FD8B04"/>
                </a:solidFill>
                <a:latin typeface="Aptos"/>
              </a:rPr>
              <a:t>IQR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3401568"/>
            <a:ext cx="31089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020202"/>
                </a:solidFill>
                <a:latin typeface="Aptos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4069080"/>
            <a:ext cx="4846320" cy="566928"/>
          </a:xfrm>
          <a:prstGeom prst="roundRect">
            <a:avLst/>
          </a:prstGeom>
          <a:solidFill>
            <a:srgbClr val="F0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4224528"/>
            <a:ext cx="1143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FD8B04"/>
                </a:solidFill>
                <a:latin typeface="Aptos"/>
              </a:rPr>
              <a:t>Upper fence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31720" y="4178808"/>
            <a:ext cx="31089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020202"/>
                </a:solidFill>
                <a:latin typeface="Aptos"/>
              </a:rPr>
              <a:t>16.5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983480"/>
            <a:ext cx="102412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000" b="1">
                <a:solidFill>
                  <a:srgbClr val="FD8B04"/>
                </a:solidFill>
                <a:latin typeface="Aptos"/>
              </a:rPr>
              <a:t>30 &gt; 16.5  →  potential outlier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532120"/>
            <a:ext cx="102412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020202"/>
                </a:solidFill>
                <a:latin typeface="Aptos"/>
              </a:rPr>
              <a:t>Potential ≠ proven error.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56032"/>
            <a:ext cx="2743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FD8B04"/>
                </a:solidFill>
                <a:latin typeface="Aptos"/>
              </a:rPr>
              <a:t>ANALYZE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1078992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020202"/>
                </a:solidFill>
                <a:latin typeface="Aptos"/>
              </a:rPr>
              <a:t>Boxplot: one picture, several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07008"/>
            <a:ext cx="107899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696969"/>
                </a:solidFill>
                <a:latin typeface="Aptos"/>
              </a:rPr>
              <a:t>Center + spread + potential outliers at a glance.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696969"/>
                </a:solidFill>
                <a:latin typeface="Aptos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19088"/>
            <a:ext cx="5029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696969"/>
                </a:solidFill>
                <a:latin typeface="Aptos"/>
              </a:rPr>
              <a:t>SCOUT • DATA ANALYTICS &amp; VISUALIZATION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2286000"/>
            <a:ext cx="1828800" cy="777240"/>
          </a:xfrm>
          <a:prstGeom prst="roundRect">
            <a:avLst/>
          </a:prstGeom>
          <a:solidFill>
            <a:srgbClr val="020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542032"/>
            <a:ext cx="1828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Q1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2286000"/>
            <a:ext cx="4114800" cy="777240"/>
          </a:xfrm>
          <a:prstGeom prst="roundRect">
            <a:avLst/>
          </a:prstGeom>
          <a:solidFill>
            <a:srgbClr val="F0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0" y="2542032"/>
            <a:ext cx="4114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020202"/>
                </a:solidFill>
                <a:latin typeface="Aptos"/>
              </a:rPr>
              <a:t>MIDDLE 50%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40880" y="2286000"/>
            <a:ext cx="1828800" cy="777240"/>
          </a:xfrm>
          <a:prstGeom prst="roundRect">
            <a:avLst/>
          </a:prstGeom>
          <a:solidFill>
            <a:srgbClr val="020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0" y="2542032"/>
            <a:ext cx="1828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Q3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418320" y="2395728"/>
            <a:ext cx="320040" cy="548640"/>
          </a:xfrm>
          <a:prstGeom prst="rect">
            <a:avLst/>
          </a:prstGeom>
          <a:solidFill>
            <a:srgbClr val="FD8B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657600"/>
            <a:ext cx="1060704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FD8B04"/>
                </a:solidFill>
                <a:latin typeface="Aptos"/>
              </a:rPr>
              <a:t>YOUR TURN: Look at a boxplot and answer: where is the median? how spread out is the middle 50%? any potential outliers?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56032"/>
            <a:ext cx="2743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FD8B04"/>
                </a:solidFill>
                <a:latin typeface="Aptos"/>
              </a:rPr>
              <a:t>EXPLORE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1078992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020202"/>
                </a:solidFill>
                <a:latin typeface="Aptos"/>
              </a:rPr>
              <a:t>EDA = asking the dataset what is happening.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07008"/>
            <a:ext cx="107899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696969"/>
                </a:solidFill>
                <a:latin typeface="Aptos"/>
              </a:rPr>
              <a:t>Now stop calculating for a moment. Start investigating.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696969"/>
                </a:solidFill>
                <a:latin typeface="Aptos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19088"/>
            <a:ext cx="5029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696969"/>
                </a:solidFill>
                <a:latin typeface="Aptos"/>
              </a:rPr>
              <a:t>SCOUT • DATA ANALYTICS &amp; VISUALIZATION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83080"/>
            <a:ext cx="3383280" cy="1005840"/>
          </a:xfrm>
          <a:prstGeom prst="roundRect">
            <a:avLst/>
          </a:prstGeom>
          <a:solidFill>
            <a:srgbClr val="F0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47672"/>
            <a:ext cx="5029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020202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929384"/>
            <a:ext cx="22860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020202"/>
                </a:solidFill>
                <a:latin typeface="Aptos"/>
              </a:rPr>
              <a:t>FREQUENCY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441448"/>
            <a:ext cx="287121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Aptos"/>
              </a:rPr>
              <a:t>What occurs most often?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1783080"/>
            <a:ext cx="3383280" cy="1005840"/>
          </a:xfrm>
          <a:prstGeom prst="roundRect">
            <a:avLst/>
          </a:prstGeom>
          <a:solidFill>
            <a:srgbClr val="F0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1947672"/>
            <a:ext cx="5029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020202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1929384"/>
            <a:ext cx="22860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020202"/>
                </a:solidFill>
                <a:latin typeface="Aptos"/>
              </a:rPr>
              <a:t>TREND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592" y="2441448"/>
            <a:ext cx="287121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Aptos"/>
              </a:rPr>
              <a:t>How does it change over time?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1783080"/>
            <a:ext cx="3383280" cy="1005840"/>
          </a:xfrm>
          <a:prstGeom prst="roundRect">
            <a:avLst/>
          </a:prstGeom>
          <a:solidFill>
            <a:srgbClr val="F0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1947672"/>
            <a:ext cx="5029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020202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1929384"/>
            <a:ext cx="22860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020202"/>
                </a:solidFill>
                <a:latin typeface="Aptos"/>
              </a:rPr>
              <a:t>GROUP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31352" y="2441448"/>
            <a:ext cx="287121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Aptos"/>
              </a:rPr>
              <a:t>Which group differs?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08960"/>
            <a:ext cx="3383280" cy="1005840"/>
          </a:xfrm>
          <a:prstGeom prst="roundRect">
            <a:avLst/>
          </a:prstGeom>
          <a:solidFill>
            <a:srgbClr val="F0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273552"/>
            <a:ext cx="5029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020202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3255264"/>
            <a:ext cx="22860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020202"/>
                </a:solidFill>
                <a:latin typeface="Aptos"/>
              </a:rPr>
              <a:t>RELATIONSHIP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" y="3767328"/>
            <a:ext cx="287121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Aptos"/>
              </a:rPr>
              <a:t>Do two variables move together?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60" y="3108960"/>
            <a:ext cx="3383280" cy="1005840"/>
          </a:xfrm>
          <a:prstGeom prst="roundRect">
            <a:avLst/>
          </a:prstGeom>
          <a:solidFill>
            <a:srgbClr val="F0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9160" y="3273552"/>
            <a:ext cx="5029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020202"/>
                </a:solidFill>
                <a:latin typeface="Aptos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9240" y="3255264"/>
            <a:ext cx="22860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020202"/>
                </a:solidFill>
                <a:latin typeface="Aptos"/>
              </a:rPr>
              <a:t>OUTLIER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36592" y="3767328"/>
            <a:ext cx="287121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Aptos"/>
              </a:rPr>
              <a:t>Which observations look unusual?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75320" y="3108960"/>
            <a:ext cx="3383280" cy="1005840"/>
          </a:xfrm>
          <a:prstGeom prst="roundRect">
            <a:avLst/>
          </a:prstGeom>
          <a:solidFill>
            <a:srgbClr val="F0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0" y="3273552"/>
            <a:ext cx="5029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020202"/>
                </a:solidFill>
                <a:latin typeface="Aptos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3255264"/>
            <a:ext cx="22860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020202"/>
                </a:solidFill>
                <a:latin typeface="Aptos"/>
              </a:rPr>
              <a:t>DISTRIBUTION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31352" y="3767328"/>
            <a:ext cx="287121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Aptos"/>
              </a:rPr>
              <a:t>What does the shape look like?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4892040"/>
            <a:ext cx="10241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FD8B04"/>
                </a:solidFill>
                <a:latin typeface="Aptos"/>
              </a:rPr>
              <a:t>EDA is not a single chart. It is a way of investigating.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56032"/>
            <a:ext cx="2743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FD8B04"/>
                </a:solidFill>
                <a:latin typeface="Aptos"/>
              </a:rPr>
              <a:t>EXPLORE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1078992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020202"/>
                </a:solidFill>
                <a:latin typeface="Aptos"/>
              </a:rPr>
              <a:t>Mission 08 — create one useful chart.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07008"/>
            <a:ext cx="107899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696969"/>
                </a:solidFill>
                <a:latin typeface="Aptos"/>
              </a:rPr>
              <a:t>Choose a question first. Then choose a chart.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696969"/>
                </a:solidFill>
                <a:latin typeface="Aptos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19088"/>
            <a:ext cx="5029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696969"/>
                </a:solidFill>
                <a:latin typeface="Aptos"/>
              </a:rPr>
              <a:t>SCOUT • DATA ANALYTICS &amp; VISUALIZATION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074920" cy="1097280"/>
          </a:xfrm>
          <a:prstGeom prst="roundRect">
            <a:avLst/>
          </a:prstGeom>
          <a:solidFill>
            <a:srgbClr val="020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29968"/>
            <a:ext cx="22860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FD8B04"/>
                </a:solidFill>
                <a:latin typeface="Aptos"/>
              </a:rPr>
              <a:t>Compare products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450592"/>
            <a:ext cx="4389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Column / bar chart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28800"/>
            <a:ext cx="5074920" cy="1097280"/>
          </a:xfrm>
          <a:prstGeom prst="roundRect">
            <a:avLst/>
          </a:prstGeom>
          <a:solidFill>
            <a:srgbClr val="F0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029968"/>
            <a:ext cx="22860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FD8B04"/>
                </a:solidFill>
                <a:latin typeface="Aptos"/>
              </a:rPr>
              <a:t>See a distribution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450592"/>
            <a:ext cx="4389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Aptos"/>
              </a:rPr>
              <a:t>Histogram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246120"/>
            <a:ext cx="5074920" cy="1097280"/>
          </a:xfrm>
          <a:prstGeom prst="roundRect">
            <a:avLst/>
          </a:prstGeom>
          <a:solidFill>
            <a:srgbClr val="020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447288"/>
            <a:ext cx="22860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FD8B04"/>
                </a:solidFill>
                <a:latin typeface="Aptos"/>
              </a:rPr>
              <a:t>See change over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867911"/>
            <a:ext cx="4389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Line chart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246120"/>
            <a:ext cx="5074920" cy="1097280"/>
          </a:xfrm>
          <a:prstGeom prst="roundRect">
            <a:avLst/>
          </a:prstGeom>
          <a:solidFill>
            <a:srgbClr val="F0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447288"/>
            <a:ext cx="22860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FD8B04"/>
                </a:solidFill>
                <a:latin typeface="Aptos"/>
              </a:rPr>
              <a:t>Compare groups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867911"/>
            <a:ext cx="4389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Aptos"/>
              </a:rPr>
              <a:t>Bar chart / boxplot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983480"/>
            <a:ext cx="1024128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FD8B04"/>
                </a:solidFill>
                <a:latin typeface="Aptos"/>
              </a:rPr>
              <a:t>Create ONE chart that helps answer your SCOUT Mart question.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56032"/>
            <a:ext cx="2743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FD8B04"/>
                </a:solidFill>
                <a:latin typeface="Aptos"/>
              </a:rPr>
              <a:t>THINK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1078992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020202"/>
                </a:solidFill>
                <a:latin typeface="Aptos"/>
              </a:rPr>
              <a:t>Relationship ≠ causation.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07008"/>
            <a:ext cx="107899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696969"/>
                </a:solidFill>
                <a:latin typeface="Aptos"/>
              </a:rPr>
              <a:t>A chart can show that two things move together. It cannot, by itself, prove why.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696969"/>
                </a:solidFill>
                <a:latin typeface="Aptos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19088"/>
            <a:ext cx="5029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696969"/>
                </a:solidFill>
                <a:latin typeface="Aptos"/>
              </a:rPr>
              <a:t>SCOUT • DATA ANALYTICS &amp; VISUALIZATION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28800"/>
            <a:ext cx="2926080" cy="1143000"/>
          </a:xfrm>
          <a:prstGeom prst="roundRect">
            <a:avLst/>
          </a:prstGeom>
          <a:solidFill>
            <a:srgbClr val="F0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57400"/>
            <a:ext cx="25603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000" b="1">
                <a:solidFill>
                  <a:srgbClr val="020202"/>
                </a:solidFill>
                <a:latin typeface="Aptos"/>
              </a:rPr>
              <a:t>AD SPEND 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828800"/>
            <a:ext cx="2926080" cy="1143000"/>
          </a:xfrm>
          <a:prstGeom prst="roundRect">
            <a:avLst/>
          </a:prstGeom>
          <a:solidFill>
            <a:srgbClr val="020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2057400"/>
            <a:ext cx="25603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SALES 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1828800"/>
            <a:ext cx="2926080" cy="1143000"/>
          </a:xfrm>
          <a:prstGeom prst="roundRect">
            <a:avLst/>
          </a:prstGeom>
          <a:solidFill>
            <a:srgbClr val="F0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09560" y="2057400"/>
            <a:ext cx="25603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000" b="1">
                <a:solidFill>
                  <a:srgbClr val="FD8B04"/>
                </a:solidFill>
                <a:latin typeface="Aptos"/>
              </a:rPr>
              <a:t>WHAT ELSE?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520440"/>
            <a:ext cx="1024128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2D2D2D"/>
                </a:solidFill>
                <a:latin typeface="Aptos"/>
              </a:rPr>
              <a:t>Maybe season, promotions, store traffic or another factor affects both.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709160"/>
            <a:ext cx="1024128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100" b="1">
                <a:solidFill>
                  <a:srgbClr val="FD8B04"/>
                </a:solidFill>
                <a:latin typeface="Aptos"/>
              </a:rPr>
              <a:t>ASK: “What else could explain this pattern?”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56032"/>
            <a:ext cx="2743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FD8B04"/>
                </a:solidFill>
                <a:latin typeface="Aptos"/>
              </a:rPr>
              <a:t>SAMPLING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1078992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020202"/>
                </a:solidFill>
                <a:latin typeface="Aptos"/>
              </a:rPr>
              <a:t>Population vs sample — who are we trying to describe?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07008"/>
            <a:ext cx="107899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696969"/>
                </a:solidFill>
                <a:latin typeface="Aptos"/>
              </a:rPr>
              <a:t>Sampling only makes sense when you are clear about the population.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696969"/>
                </a:solidFill>
                <a:latin typeface="Aptos"/>
              </a:rP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19088"/>
            <a:ext cx="5029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696969"/>
                </a:solidFill>
                <a:latin typeface="Aptos"/>
              </a:rPr>
              <a:t>SCOUT • DATA ANALYTICS &amp; VISUALIZATION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83080"/>
            <a:ext cx="5074920" cy="2606040"/>
          </a:xfrm>
          <a:prstGeom prst="roundRect">
            <a:avLst/>
          </a:prstGeom>
          <a:solidFill>
            <a:srgbClr val="F0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45720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D8B04"/>
                </a:solidFill>
                <a:latin typeface="Aptos"/>
              </a:rPr>
              <a:t>POPULATION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06040"/>
            <a:ext cx="457200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200" b="1">
                <a:solidFill>
                  <a:srgbClr val="020202"/>
                </a:solidFill>
                <a:latin typeface="Aptos"/>
              </a:rPr>
              <a:t>All students in the programme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74720"/>
            <a:ext cx="457200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0">
                <a:solidFill>
                  <a:srgbClr val="2D2D2D"/>
                </a:solidFill>
                <a:latin typeface="Aptos"/>
              </a:rPr>
              <a:t>The full group we care about.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783080"/>
            <a:ext cx="5074920" cy="2606040"/>
          </a:xfrm>
          <a:prstGeom prst="roundRect">
            <a:avLst/>
          </a:prstGeom>
          <a:solidFill>
            <a:srgbClr val="020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2057400"/>
            <a:ext cx="45720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D8B04"/>
                </a:solidFill>
                <a:latin typeface="Aptos"/>
              </a:rPr>
              <a:t>SAMPLE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606040"/>
            <a:ext cx="457200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50 students we actually survey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474720"/>
            <a:ext cx="457200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Aptos"/>
              </a:rPr>
              <a:t>A subset we observe to learn about the population.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892040"/>
            <a:ext cx="102412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FD8B04"/>
                </a:solidFill>
                <a:latin typeface="Aptos"/>
              </a:rPr>
              <a:t>Sampling = deciding WHICH members of the population enter the sample.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56032"/>
            <a:ext cx="2743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FD8B04"/>
                </a:solidFill>
                <a:latin typeface="Aptos"/>
              </a:rPr>
              <a:t>SAMPLING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1078992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020202"/>
                </a:solidFill>
                <a:latin typeface="Aptos"/>
              </a:rPr>
              <a:t>Mission 09 — is this sample trustworthy?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07008"/>
            <a:ext cx="107899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696969"/>
                </a:solidFill>
                <a:latin typeface="Aptos"/>
              </a:rPr>
              <a:t>Read each scenario. Identify the sampling problem.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696969"/>
                </a:solidFill>
                <a:latin typeface="Aptos"/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19088"/>
            <a:ext cx="5029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696969"/>
                </a:solidFill>
                <a:latin typeface="Aptos"/>
              </a:rPr>
              <a:t>SCOUT • DATA ANALYTICS &amp; VISUALIZATION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10698480" cy="1005840"/>
          </a:xfrm>
          <a:prstGeom prst="roundRect">
            <a:avLst/>
          </a:prstGeom>
          <a:solidFill>
            <a:srgbClr val="020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56232"/>
            <a:ext cx="411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D8B04"/>
                </a:solidFill>
                <a:latin typeface="Apto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28800"/>
            <a:ext cx="932688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You want to know how all students feel about online classes. You survey only people in your Data Analytics class.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017520"/>
            <a:ext cx="10698480" cy="1005840"/>
          </a:xfrm>
          <a:prstGeom prst="roundRect">
            <a:avLst/>
          </a:prstGeom>
          <a:solidFill>
            <a:srgbClr val="F0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182112"/>
            <a:ext cx="411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020202"/>
                </a:solidFill>
                <a:latin typeface="Apto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54679"/>
            <a:ext cx="932688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020202"/>
                </a:solidFill>
                <a:latin typeface="Aptos"/>
              </a:rPr>
              <a:t>You have a complete student list. You randomly select 100 student IDs.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343400"/>
            <a:ext cx="10698480" cy="1005840"/>
          </a:xfrm>
          <a:prstGeom prst="roundRect">
            <a:avLst/>
          </a:prstGeom>
          <a:solidFill>
            <a:srgbClr val="020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507992"/>
            <a:ext cx="411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D8B04"/>
                </a:solidFill>
                <a:latin typeface="Apto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480560"/>
            <a:ext cx="932688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You post a poll and only count students who choose to respond.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715000"/>
            <a:ext cx="102412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FD8B04"/>
                </a:solidFill>
                <a:latin typeface="Aptos"/>
              </a:rPr>
              <a:t>Ask: Who is missing? Could the sample systematically differ from the population?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56032"/>
            <a:ext cx="2743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FD8B04"/>
                </a:solidFill>
                <a:latin typeface="Aptos"/>
              </a:rPr>
              <a:t>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1078992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020202"/>
                </a:solidFill>
                <a:latin typeface="Aptos"/>
              </a:rPr>
              <a:t>Mission 10 — give management an answer.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07008"/>
            <a:ext cx="107899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696969"/>
                </a:solidFill>
                <a:latin typeface="Aptos"/>
              </a:rPr>
              <a:t>5 minutes • Your answer must contain evidence.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696969"/>
                </a:solidFill>
                <a:latin typeface="Aptos"/>
              </a:rP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19088"/>
            <a:ext cx="5029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696969"/>
                </a:solidFill>
                <a:latin typeface="Aptos"/>
              </a:rPr>
              <a:t>SCOUT • DATA ANALYTICS &amp; VISUALIZATION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91640"/>
            <a:ext cx="5212080" cy="1234440"/>
          </a:xfrm>
          <a:prstGeom prst="roundRect">
            <a:avLst/>
          </a:prstGeom>
          <a:solidFill>
            <a:srgbClr val="020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92808"/>
            <a:ext cx="14173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FD8B04"/>
                </a:solidFill>
                <a:latin typeface="Aptos"/>
              </a:rPr>
              <a:t>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13432"/>
            <a:ext cx="46634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What exactly did you investigate?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691640"/>
            <a:ext cx="5212080" cy="1234440"/>
          </a:xfrm>
          <a:prstGeom prst="roundRect">
            <a:avLst/>
          </a:prstGeom>
          <a:solidFill>
            <a:srgbClr val="F0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892808"/>
            <a:ext cx="14173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FD8B04"/>
                </a:solidFill>
                <a:latin typeface="Aptos"/>
              </a:rPr>
              <a:t>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313432"/>
            <a:ext cx="46634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Aptos"/>
              </a:rPr>
              <a:t>What number or chart supports your finding?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46120"/>
            <a:ext cx="5212080" cy="1234440"/>
          </a:xfrm>
          <a:prstGeom prst="roundRect">
            <a:avLst/>
          </a:prstGeom>
          <a:solidFill>
            <a:srgbClr val="F0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447288"/>
            <a:ext cx="14173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FD8B04"/>
                </a:solidFill>
                <a:latin typeface="Aptos"/>
              </a:rPr>
              <a:t>INSIGHT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867911"/>
            <a:ext cx="46634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Aptos"/>
              </a:rPr>
              <a:t>What does that evidence mean?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246120"/>
            <a:ext cx="5212080" cy="1234440"/>
          </a:xfrm>
          <a:prstGeom prst="roundRect">
            <a:avLst/>
          </a:prstGeom>
          <a:solidFill>
            <a:srgbClr val="020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3447288"/>
            <a:ext cx="14173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FD8B04"/>
                </a:solidFill>
                <a:latin typeface="Aptos"/>
              </a:rPr>
              <a:t>DECISION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867911"/>
            <a:ext cx="46634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What should management investigate or do next?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074920"/>
            <a:ext cx="1024128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FD8B04"/>
                </a:solidFill>
                <a:latin typeface="Aptos"/>
              </a:rPr>
              <a:t>Do not write: “Sales are down because of X.”
Write what the evidence actually supports.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56032"/>
            <a:ext cx="2743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FD8B04"/>
                </a:solidFill>
                <a:latin typeface="Aptos"/>
              </a:rPr>
              <a:t>EXIT TICKET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1078992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020202"/>
                </a:solidFill>
                <a:latin typeface="Aptos"/>
              </a:rPr>
              <a:t>What can you do now?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07008"/>
            <a:ext cx="107899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696969"/>
                </a:solidFill>
                <a:latin typeface="Aptos"/>
              </a:rPr>
              <a:t>Before you leave, answer these without looking at your notes.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696969"/>
                </a:solidFill>
                <a:latin typeface="Aptos"/>
              </a:rP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19088"/>
            <a:ext cx="5029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696969"/>
                </a:solidFill>
                <a:latin typeface="Aptos"/>
              </a:rPr>
              <a:t>SCOUT • DATA ANALYTICS &amp; VISUALIZATION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00200"/>
            <a:ext cx="10607040" cy="530352"/>
          </a:xfrm>
          <a:prstGeom prst="roundRect">
            <a:avLst/>
          </a:prstGeom>
          <a:solidFill>
            <a:srgbClr val="F0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19072"/>
            <a:ext cx="3657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FD8B04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664208"/>
            <a:ext cx="94183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020202"/>
                </a:solidFill>
                <a:latin typeface="Aptos"/>
              </a:rPr>
              <a:t>What is the difference between a business problem and an analytical question?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313432"/>
            <a:ext cx="10607040" cy="530352"/>
          </a:xfrm>
          <a:prstGeom prst="roundRect">
            <a:avLst/>
          </a:prstGeom>
          <a:solidFill>
            <a:srgbClr val="020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432304"/>
            <a:ext cx="3657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FD8B04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377440"/>
            <a:ext cx="94183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Name TWO data-quality problems and how you would investigate them.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026664"/>
            <a:ext cx="10607040" cy="530352"/>
          </a:xfrm>
          <a:prstGeom prst="roundRect">
            <a:avLst/>
          </a:prstGeom>
          <a:solidFill>
            <a:srgbClr val="F0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145536"/>
            <a:ext cx="3657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FD8B04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090672"/>
            <a:ext cx="94183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020202"/>
                </a:solidFill>
                <a:latin typeface="Aptos"/>
              </a:rPr>
              <a:t>When might the median be more useful than the mean?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739896"/>
            <a:ext cx="10607040" cy="530352"/>
          </a:xfrm>
          <a:prstGeom prst="roundRect">
            <a:avLst/>
          </a:prstGeom>
          <a:solidFill>
            <a:srgbClr val="020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858768"/>
            <a:ext cx="3657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FD8B04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803904"/>
            <a:ext cx="94183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What is the difference between a population and a sample?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453128"/>
            <a:ext cx="10607040" cy="530352"/>
          </a:xfrm>
          <a:prstGeom prst="roundRect">
            <a:avLst/>
          </a:prstGeom>
          <a:solidFill>
            <a:srgbClr val="F0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572000"/>
            <a:ext cx="3657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FD8B04"/>
                </a:solidFill>
                <a:latin typeface="Aptos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517136"/>
            <a:ext cx="94183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020202"/>
                </a:solidFill>
                <a:latin typeface="Aptos"/>
              </a:rPr>
              <a:t>Why doesn't correlation automatically prove causation?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486400"/>
            <a:ext cx="102412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FD8B04"/>
                </a:solidFill>
                <a:latin typeface="Aptos"/>
              </a:rPr>
              <a:t>NEXT CLASS: we build stronger analysis and visualization skills.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